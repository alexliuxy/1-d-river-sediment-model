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9" r:id="rId10"/>
    <p:sldId id="268" r:id="rId11"/>
    <p:sldId id="271" r:id="rId12"/>
    <p:sldId id="272" r:id="rId13"/>
    <p:sldId id="274" r:id="rId14"/>
    <p:sldId id="270" r:id="rId15"/>
    <p:sldId id="27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380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70B58-3F5F-4379-A1B1-C38E5919F3E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39498-0493-40A5-B4CA-77CDE1E73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563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39498-0493-40A5-B4CA-77CDE1E732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894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6374-FC23-A8EF-B0C6-CAD66C41A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2F0C8-9707-F384-1CD0-2101E0BD5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8D5B3-FF16-AEBB-ED7D-DC4838F1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9155B-0AFF-FF60-C2B2-F232F7384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F8539-91BC-9C6B-2677-53F272D6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81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8E24-0337-BDF5-76CC-620D1C2FC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D9C17-47E1-BA0F-06B4-B6A91C456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23CCA-8E10-59C7-FFF0-F062AFC6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77231-8162-8489-B8D5-0F2D02358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88557-6D32-E0BF-C2AA-8FF4CA15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42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8551-8D9D-9197-D395-CF39B8B9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B36A0-7F61-287E-5106-AF0219759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C1BA8-FD27-1A6F-AB41-88D59625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BCE4F-EABA-F0A5-1DA9-902FB57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2D8BF-BF4F-7CF8-3358-D354D431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62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A450-4595-1C5B-6E46-B002642E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BEACA-4738-93D8-9395-7BF69AC16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D8E30-07BD-EA84-C5AE-5BBF0769B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949C8-ADDE-B958-8001-230DC580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0EE2D-2DBB-1A44-296B-6255EAF6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22E7A-26B3-D768-65A0-0C987C4E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96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767F-6D08-803F-0458-E5C85594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DAADC-D39C-EB93-93C5-C0720470C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3F90C-F88A-71D2-1DD0-08AFB1993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D2DAB-B66B-630C-F81D-7242560CA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1F3444-18FC-8E44-60BE-4950906CB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DC8D5-5F8E-C7E1-EC93-6E3AC242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825F3-6A1D-5A3B-5803-032AD0563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82DC7-A5CB-09C1-CD43-89CF446D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08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0F81-0C73-6379-A070-E36D172A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0CB2BA-93D6-D19C-B5C6-EBE2305F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75E6D-17F4-BB06-B632-08927CA4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86C55-851D-1791-A4FF-7D9D6481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795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2D89E-8FB5-A536-B10C-0951A9DD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C7C7E0-8FD4-0BAD-341B-65046DA7F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4A904-94A1-A7C2-6C0F-4E30D656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73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9684-0171-0572-E6EA-AF70204DE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900FE-C233-2AD3-6CC3-73E8F39A6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F3B54-9FC3-EA11-E081-D5BCBAE2A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225C9-B4B2-2C34-7C4C-C0A9D595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F2251-FF47-498C-8835-1534577A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D1A83-1BE7-2290-6994-AE58DC43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76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0782-7EDE-9442-7671-73E59CFC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73538-2628-4FBD-9296-33A496FAC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1ADC3-57D0-6623-688E-B283429C1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5DDC3-E66E-68C2-B6A3-0760E170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C1A5F-99EE-65B1-5619-2FA284E0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D3C6A-C3C2-8E82-4F31-0E670A85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42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41B43-FCA3-97C7-9D0D-A8CB1143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662C2-0570-5F7D-A09B-092B60522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0B715-9BE2-A4D1-B2F7-3A18D6F0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30F2A-5D88-E375-4977-C186E27E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660AA-7FE6-4B43-8811-E19EF79D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51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0F8E8C-18A5-033B-0B83-80C7F0396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5EB76-AD4A-CC3C-7D22-73F38FF3D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BCA6C-2F91-0373-9F07-2CFCA39B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B21B3-2E3F-232C-CD43-A46A6253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D5E21-578C-E1A7-B1BC-42CFF32F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81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4B6C3-0DCE-EF94-1357-252CD2FD9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06B56-7B9E-40B7-0128-2D3BC7F87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BDFCC-ABA5-E5EE-0835-61BB73DA5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356CC-D3AA-463A-A30D-8B12EA0FD574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3B2A0-3B51-606F-42DA-5DB886954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6F186-4C45-4EF1-0564-57056114F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998A2-3930-4304-998A-384DB31178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26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7420-0ABD-344B-AB1C-D6186F10E4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/>
              <a:t>River Sediment Parameterization (Literature Review)</a:t>
            </a:r>
            <a:endParaRPr lang="zh-CN" altLang="en-US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6CD64-5CC0-8DF2-209F-11C0AC981D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/>
              <a:t>Grain Size, Hyporheic Exchange, POM Settling</a:t>
            </a:r>
          </a:p>
        </p:txBody>
      </p:sp>
    </p:spTree>
    <p:extLst>
      <p:ext uri="{BB962C8B-B14F-4D97-AF65-F5344CB8AC3E}">
        <p14:creationId xmlns:p14="http://schemas.microsoft.com/office/powerpoint/2010/main" val="196927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4F0F-3FD1-6567-FE07-FE5E7C53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10ADF-AD08-D057-4E64-25828B36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 fontScale="90000"/>
          </a:bodyPr>
          <a:lstStyle/>
          <a:p>
            <a:r>
              <a:rPr lang="en-US" altLang="zh-CN" sz="4000" b="1"/>
              <a:t>Grain</a:t>
            </a:r>
            <a:r>
              <a:rPr lang="en-US" altLang="zh-CN" b="1"/>
              <a:t> Size (</a:t>
            </a:r>
            <a:r>
              <a:rPr lang="en-US" altLang="zh-CN" b="1" i="1"/>
              <a:t>d</a:t>
            </a:r>
            <a:r>
              <a:rPr lang="en-US" altLang="zh-CN" b="1" i="1" baseline="-25000"/>
              <a:t>50</a:t>
            </a:r>
            <a:r>
              <a:rPr lang="en-US" altLang="zh-CN" b="1"/>
              <a:t>) as the Master Variable</a:t>
            </a:r>
            <a:endParaRPr lang="zh-CN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6D042C-749E-54C8-8E22-275482E3E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Equations: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Porosity: Modeled as a function of the median grain size.</a:t>
                </a:r>
              </a:p>
              <a:p>
                <a:pPr marL="914400" lvl="2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zh-CN" altLang="en-US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𝟑𝟓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zh-CN" altLang="en-US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func>
                      <m:funcPr>
                        <m:ctrlPr>
                          <a:rPr lang="zh-CN" altLang="en-US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exp</m:t>
                        </m:r>
                        <m:r>
                          <a:rPr lang="en-US" altLang="zh-CN" sz="1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fName>
                      <m:e>
                        <m:d>
                          <m:dPr>
                            <m:ctrlP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zh-CN" altLang="en-US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𝟓𝟎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zh-CN" altLang="en-US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(Boudreau, 1997)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Kozeny-Carman Equation: Establishes the link between grain size and permeability (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</a:p>
              <a:p>
                <a:pPr marL="914400" lvl="2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en-US" altLang="zh-CN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𝟓𝟎</m:t>
                            </m:r>
                          </m:sub>
                          <m:sup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𝝓</m:t>
                            </m:r>
                          </m:e>
                          <m:sup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en-US" altLang="zh-CN" sz="1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𝟏𝟖𝟎</m:t>
                        </m:r>
                        <m:sSup>
                          <m:sSup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4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(Bear, 1972; Carman, 1956) 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 Definitions:</a:t>
                </a:r>
                <a:endParaRPr lang="en-US" altLang="zh-CN" sz="2000" b="1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𝟓𝟎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Median Grain Size. Source: USGS NWIS or Field Sieving. Range: 0.1 – 1.0 mm (Fine to Coarse Sand).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Porosity. Source: Derived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𝟓𝟎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bulk density. Range: 0.30 - 0.45 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 Strategy: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Code: Hardcoded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prostop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0.9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(representative of mud/clay).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Proposed: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𝟓𝟎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single site-level input to automate the initialization of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CN" sz="16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1600" b="1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6D042C-749E-54C8-8E22-275482E3E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  <a:blipFill>
                <a:blip r:embed="rId2"/>
                <a:stretch>
                  <a:fillRect l="-488" t="-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511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28BE4-E7B7-080B-96DD-E4DB02E9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4B75-BF3B-AE5F-0CC9-BDA660E43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 fontScale="90000"/>
          </a:bodyPr>
          <a:lstStyle/>
          <a:p>
            <a:r>
              <a:rPr lang="en-US" altLang="zh-CN" sz="4000" b="1"/>
              <a:t>Hyporheic Zone Diffusion &amp; Residence Time</a:t>
            </a:r>
            <a:endParaRPr lang="zh-CN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95E533-A2CF-C1F6-39FD-7E2516FB37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</p:spPr>
            <p:txBody>
              <a:bodyPr>
                <a:normAutofit fontScale="925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Equations: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Effective Diffusivity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𝒆𝒇𝒇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Molecular diffusion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enhanced by shear-driven advective pumping in sandy beds.</a:t>
                </a:r>
              </a:p>
              <a:p>
                <a:pPr marL="914400" lvl="2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𝒆𝒇𝒇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Grant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et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al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., 2012;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Boano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et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al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., 2014)</m:t>
                      </m:r>
                    </m:oMath>
                  </m:oMathPara>
                </a14:m>
                <a:endPara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Residence Time (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𝝉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Determines the window for biogeochemical reactions; inversely proportional to permeability and flow .</a:t>
                </a:r>
              </a:p>
              <a:p>
                <a:pPr marL="1371600" lvl="3" indent="0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𝝉</m:t>
                      </m:r>
                      <m:r>
                        <a:rPr lang="en-US" altLang="zh-CN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b>
                            <m:sup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bSup>
                        </m:den>
                      </m:f>
                      <m:r>
                        <a:rPr lang="en-US" altLang="zh-CN" sz="16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Cardenas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et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al</m:t>
                      </m:r>
                      <m:r>
                        <m:rPr>
                          <m:nor/>
                        </m:rPr>
                        <a:rPr lang="en-US" altLang="zh-CN" sz="1600" b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., 2004)</m:t>
                      </m:r>
                    </m:oMath>
                  </m:oMathPara>
                </a14:m>
                <a:endParaRPr lang="en-US" altLang="zh-CN" sz="1600" b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Insight: Higher k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lead to shorter 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𝝉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but significantly higher total mass flux (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𝑱</m:t>
                    </m:r>
                    <m:r>
                      <a:rPr lang="en-US" altLang="zh-CN" sz="16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∝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16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𝒆𝒇𝒇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 Definitions: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tortuosity.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Shear Velocity. Source: Calculated from Slope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Depth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𝒈𝑯𝑺</m:t>
                        </m:r>
                      </m:e>
                    </m:rad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Range: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𝟎𝟎𝟓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𝟎𝟓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  <m:r>
                      <m:rPr>
                        <m:lit/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Longitudinal Dispersivity. Source: Literature value for river bedforms. Range: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cm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Molecular Diffusion. Source: Chemical constant. Typical Range: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𝟗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m:rPr>
                        <m:lit/>
                      </m:rP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1600" b="1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 Strategy: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Code: Fixed diffusion coefficient.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Proposed: Update </a:t>
                </a:r>
                <a:r>
                  <a:rPr lang="en-US" altLang="zh-CN" sz="1600" b="1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(hydrodynamics) and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(sedimentology).</a:t>
                </a:r>
                <a:endParaRPr lang="en-US" altLang="zh-CN" sz="1600" b="1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95E533-A2CF-C1F6-39FD-7E2516FB37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  <a:blipFill>
                <a:blip r:embed="rId2"/>
                <a:stretch>
                  <a:fillRect l="-434" t="-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826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B917-681F-F89E-B5BF-8FC754F7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3204-1224-9E59-6FCC-4AB2D2F91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/>
          </a:bodyPr>
          <a:lstStyle/>
          <a:p>
            <a:r>
              <a:rPr lang="en-US" altLang="zh-CN" sz="4000" b="1"/>
              <a:t>River POM Settling &amp; Flocculation</a:t>
            </a:r>
            <a:endParaRPr lang="zh-CN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2343D-D5F8-B016-8A8E-4BDB647C75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</p:spPr>
            <p:txBody>
              <a:bodyPr>
                <a:normAutofit fontScale="925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Equations: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Rouse Number (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Criteria for suspension vs. deposition. </a:t>
                </a:r>
              </a:p>
              <a:p>
                <a:pPr marL="457200" lvl="1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𝜿</m:t>
                          </m:r>
                          <m:sSub>
                            <m:sSubPr>
                              <m:ctrlP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b>
                          </m:sSub>
                        </m:den>
                      </m:f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Lamb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et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al</m:t>
                      </m:r>
                      <m:r>
                        <m:rPr>
                          <m:nor/>
                        </m:rPr>
                        <a:rPr lang="en-US" altLang="zh-CN" sz="16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., 2020)</m:t>
                      </m:r>
                    </m:oMath>
                  </m:oMathPara>
                </a14:m>
                <a:endPara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Threshold: If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&lt; 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organic matter is fully suspended;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𝑭𝒍𝒖</m:t>
                    </m:r>
                    <m:sSub>
                      <m:sSubPr>
                        <m:ctrlP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𝒊𝒏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Effective Deposition: Scouring occurs when bed shear stress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exceeds critical stress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457200" lvl="1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𝒆𝒇𝒇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  <m:d>
                      <m:d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𝝉</m:t>
                                </m:r>
                              </m:e>
                              <m:sub>
                                <m: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𝒃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𝝉</m:t>
                                </m:r>
                              </m:e>
                              <m:sub>
                                <m:r>
                                  <a:rPr lang="en-US" altLang="zh-CN" sz="1600" b="1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 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Winterwerp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1998; 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Lamb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et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al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., 2020)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 Definitions: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Characteristic Settling Velocity. Value: 0.34 mm/s (Lamb et al., 2020).</a:t>
                </a:r>
                <a:r>
                  <a:rPr lang="sv-SE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sv-SE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𝜿</m:t>
                    </m:r>
                  </m:oMath>
                </a14:m>
                <a:r>
                  <a:rPr lang="sv-SE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von Karman constant. Value: 0.41 (Dimensionless)</a:t>
                </a:r>
                <a:endPara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Bed Shear Stress. Source: Calculated as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𝝆</m:t>
                    </m:r>
                    <m:sSubSup>
                      <m:sSub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b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Range: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𝟎𝟏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lit/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Critical Shear Stress. Source: Literature for organic flocs. Range: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𝟎𝟓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lit/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CN" sz="1600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 Strategy: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 Code: Fixed burial rate (</a:t>
                </a:r>
                <a:r>
                  <a:rPr lang="en-US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v_sed</a:t>
                </a: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Proposed: Apply a "Scouring Switch" to the boundary flux; if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zh-CN" alt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&lt; </m:t>
                    </m:r>
                    <m:r>
                      <a:rPr lang="zh-CN" altLang="en-US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(Suspension)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(Scouring), organic input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1600" b="1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2343D-D5F8-B016-8A8E-4BDB647C75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  <a:blipFill>
                <a:blip r:embed="rId3"/>
                <a:stretch>
                  <a:fillRect l="-434" t="-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715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560C-2B0E-3DFC-BF77-3023A084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8068-C4D5-07FE-3256-257C2FD8E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/>
          </a:bodyPr>
          <a:lstStyle/>
          <a:p>
            <a:r>
              <a:rPr lang="en-US" altLang="zh-CN" sz="4000" b="1"/>
              <a:t>Reference</a:t>
            </a:r>
            <a:endParaRPr lang="zh-CN" altLang="en-US" b="1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1E05DDDA-AD6F-94F0-8E08-6E5CE9D887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894" y="1792140"/>
            <a:ext cx="10590211" cy="3607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Grant, S. B.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al.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Effective diffusivity and mass flux across the sediment-water interface in streams. Water Resour. Res.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48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W05548 (2012)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Boano, F.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al.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Hyporheic flow and transport processes: Mechanisms, models, and ecosystems. Rev. Geophys.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603–679 (2014)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Boudreau, B. P.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Diagenetic Models and Their Implementation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(Springer, 1997)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Lamb, M. P.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al.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Mud in rivers transported as flocculated and suspended bed material.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 Geosci.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566–570 (2020).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Winterwerp, J. C. A simple model for turbulence-induced flocculation of cohesive sediment. J. Hydraul. Eng.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124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430–436 (1998).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Cardenas, M. B., Wilson, J. L. &amp; Zlotnik, V. A. Impact of river bedform-induced hyporheic flow on long-term residence time distributions. Water Resour. Res. 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W08403 (2004)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Bear, J.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Dynamics of Fluids in Porous Media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(Dover Publications, 1972) 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Carman, P. C.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 of Gases Through Porous Media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(Butterworths Scientific Publications, 1956) .</a:t>
            </a:r>
          </a:p>
        </p:txBody>
      </p:sp>
    </p:spTree>
    <p:extLst>
      <p:ext uri="{BB962C8B-B14F-4D97-AF65-F5344CB8AC3E}">
        <p14:creationId xmlns:p14="http://schemas.microsoft.com/office/powerpoint/2010/main" val="1683482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E78F3-0023-F14E-4007-02C4C481B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EC90-4FC8-5EC4-5466-5B908F68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Multiple Grain Size and Porosity Modeling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EECCD7-DC23-81CD-8BA5-A425C93A60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Equations: 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Unified Packing Model predicts porosity dynamically based on volumetric fractions.</a:t>
                </a:r>
              </a:p>
              <a:p>
                <a:pPr marL="457200" lvl="1" indent="0" algn="ctr">
                  <a:lnSpc>
                    <a:spcPct val="120000"/>
                  </a:lnSpc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mix</m:t>
                        </m:r>
                      </m:sub>
                    </m:sSub>
                    <m:r>
                      <a:rPr lang="en-US" altLang="zh-C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6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a:rPr lang="en-US" altLang="zh-CN" sz="1600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&amp; </m:t>
                            </m:r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𝒊𝒇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𝑪𝒐𝒂𝒓𝒔𝒆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𝑷𝒂𝒄𝒌𝒊𝒏𝒈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&amp; </m:t>
                            </m:r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𝒊𝒇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𝒇</m:t>
                                </m:r>
                              </m:sub>
                            </m:sSub>
                            <m:r>
                              <a:rPr lang="en-US" altLang="zh-CN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𝝓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𝑭𝒊𝒏𝒆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𝑷𝒂𝒄𝒌𝒊𝒏𝒈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(El-Husseiny, A., 2021)</a:t>
                </a:r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 Definitions:</a:t>
                </a:r>
                <a:endParaRPr lang="en-US" altLang="zh-CN" sz="20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𝒎𝒊𝒙</m:t>
                        </m:r>
                      </m:sub>
                    </m:sSub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Calculated porosity of the sediment mixture.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Porosity of the pure coarse gravel framework.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e>
                      <m:sub>
                        <m:r>
                          <a:rPr lang="en-US" altLang="zh-CN" sz="1600" b="1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Porosity of the pure fine sediment.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16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Volumetric fraction of fine grains.</a:t>
                </a:r>
              </a:p>
              <a:p>
                <a:pPr marL="514350" indent="-514350">
                  <a:lnSpc>
                    <a:spcPct val="120000"/>
                  </a:lnSpc>
                  <a:spcAft>
                    <a:spcPts val="600"/>
                  </a:spcAft>
                  <a:buAutoNum type="arabicPeriod"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 Strategy:</a:t>
                </a: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Proposed: Define a threshold (e.g., 2 mm) to partition the sediment mixture, using the median grain size of each fraction to automate the initialization of baseline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CN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EECCD7-DC23-81CD-8BA5-A425C93A60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966" y="1089498"/>
                <a:ext cx="11251660" cy="5611779"/>
              </a:xfrm>
              <a:blipFill>
                <a:blip r:embed="rId2"/>
                <a:stretch>
                  <a:fillRect l="-488" t="-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64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63EFD-7041-B05A-1DFF-81330A197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E7B5-05E6-5162-E480-9FA3B769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/>
          </a:bodyPr>
          <a:lstStyle/>
          <a:p>
            <a:r>
              <a:rPr lang="en-US" altLang="zh-CN" sz="4000" b="1"/>
              <a:t>Reference</a:t>
            </a:r>
            <a:endParaRPr lang="zh-CN" altLang="en-US" b="1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CE9AB97B-B644-9A38-4BC4-3BB8791720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894" y="2678569"/>
            <a:ext cx="10590211" cy="1834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El-</a:t>
            </a:r>
            <a:r>
              <a:rPr lang="en-US" altLang="zh-CN" sz="1400" dirty="0" err="1"/>
              <a:t>Husseiny</a:t>
            </a:r>
            <a:r>
              <a:rPr lang="en-US" altLang="zh-CN" sz="1400" dirty="0"/>
              <a:t>, A. Unified packing model for improved prediction of porosity and hydraulic conductivity of binary mixed soils. </a:t>
            </a:r>
            <a:r>
              <a:rPr lang="en-US" altLang="zh-CN" sz="1400" i="1" dirty="0"/>
              <a:t>Water</a:t>
            </a:r>
            <a:r>
              <a:rPr lang="en-US" altLang="zh-CN" sz="1400" dirty="0"/>
              <a:t> </a:t>
            </a:r>
            <a:r>
              <a:rPr lang="en-US" altLang="zh-CN" sz="1400" b="1" dirty="0"/>
              <a:t>13</a:t>
            </a:r>
            <a:r>
              <a:rPr lang="en-US" altLang="zh-CN" sz="1400" dirty="0"/>
              <a:t>, 455 (2021).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Uchida, T., Kawahara, Y., Hayashi, Y. &amp; Tateishi, A. Eulerian deposition model for sediment mixture in gravel-bed rivers with broad particle size distributions. </a:t>
            </a:r>
            <a:r>
              <a:rPr lang="en-US" altLang="zh-CN" sz="1400" i="1" dirty="0"/>
              <a:t>J. </a:t>
            </a:r>
            <a:r>
              <a:rPr lang="en-US" altLang="zh-CN" sz="1400" i="1" dirty="0" err="1"/>
              <a:t>Hydraul</a:t>
            </a:r>
            <a:r>
              <a:rPr lang="en-US" altLang="zh-CN" sz="1400" i="1" dirty="0"/>
              <a:t>. Eng.</a:t>
            </a:r>
            <a:r>
              <a:rPr lang="en-US" altLang="zh-CN" sz="1400" dirty="0"/>
              <a:t> </a:t>
            </a:r>
            <a:r>
              <a:rPr lang="en-US" altLang="zh-CN" sz="1400" b="1" dirty="0"/>
              <a:t>146</a:t>
            </a:r>
            <a:r>
              <a:rPr lang="en-US" altLang="zh-CN" sz="1400" dirty="0"/>
              <a:t>, 04020071 (2020).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dirty="0"/>
              <a:t>Bui, V. H., Bui, M. D. &amp; </a:t>
            </a:r>
            <a:r>
              <a:rPr lang="en-US" altLang="zh-CN" sz="1400" dirty="0" err="1"/>
              <a:t>Rutschmann</a:t>
            </a:r>
            <a:r>
              <a:rPr lang="en-US" altLang="zh-CN" sz="1400" dirty="0"/>
              <a:t>, P. Advanced numerical modeling of sediment transport in gravel-bed rivers. </a:t>
            </a:r>
            <a:r>
              <a:rPr lang="en-US" altLang="zh-CN" sz="1400" i="1" dirty="0"/>
              <a:t>Water</a:t>
            </a:r>
            <a:r>
              <a:rPr lang="en-US" altLang="zh-CN" sz="1400" dirty="0"/>
              <a:t> </a:t>
            </a:r>
            <a:r>
              <a:rPr lang="en-US" altLang="zh-CN" sz="1400" b="1" dirty="0"/>
              <a:t>11</a:t>
            </a:r>
            <a:r>
              <a:rPr lang="en-US" altLang="zh-CN" sz="1400" dirty="0"/>
              <a:t>, 550 (2019).</a:t>
            </a:r>
          </a:p>
          <a:p>
            <a:pPr marL="342900" indent="-342900">
              <a:buFont typeface="+mj-lt"/>
              <a:buAutoNum type="arabicPeriod"/>
            </a:pPr>
            <a:endParaRPr lang="en-US" altLang="zh-CN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86587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62FF-54DF-F3F6-164F-8CFD8C7D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CC6C0-DAD6-4D9A-76A8-6247C7A6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Parameter change for river env</a:t>
            </a:r>
            <a:endParaRPr lang="zh-CN" alt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E96788-1A76-3C22-16BD-9C1D5EA36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08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400" dirty="0"/>
              <a:t>P = 1; </a:t>
            </a:r>
          </a:p>
          <a:p>
            <a:pPr lvl="1"/>
            <a:r>
              <a:rPr lang="en-US" altLang="zh-CN" sz="2000" dirty="0"/>
              <a:t>previous 500; % pressure at depth [atm]</a:t>
            </a:r>
          </a:p>
          <a:p>
            <a:r>
              <a:rPr lang="en-US" altLang="zh-CN" sz="2400" dirty="0"/>
              <a:t>S = 0.1; </a:t>
            </a:r>
          </a:p>
          <a:p>
            <a:pPr lvl="1"/>
            <a:r>
              <a:rPr lang="en-US" altLang="zh-CN" sz="2000" dirty="0"/>
              <a:t>previous 35; % salinity [ppt]</a:t>
            </a:r>
          </a:p>
          <a:p>
            <a:r>
              <a:rPr lang="en-US" altLang="zh-CN" sz="2400" dirty="0"/>
              <a:t>F_CaCO3 = 10; </a:t>
            </a:r>
          </a:p>
          <a:p>
            <a:pPr lvl="1"/>
            <a:r>
              <a:rPr lang="en-US" altLang="zh-CN" sz="2000" dirty="0"/>
              <a:t>previous 2000; %100; %10;%500; % Flux of CaCO3 to sediment gram/m2/year</a:t>
            </a:r>
            <a:endParaRPr lang="it-IT" altLang="zh-CN" sz="2000" dirty="0"/>
          </a:p>
          <a:p>
            <a:r>
              <a:rPr lang="en-US" altLang="zh-CN" sz="2400" dirty="0"/>
              <a:t>SO4init = 2000; </a:t>
            </a:r>
          </a:p>
          <a:p>
            <a:pPr lvl="1"/>
            <a:r>
              <a:rPr lang="en-US" altLang="zh-CN" sz="2000" dirty="0"/>
              <a:t>previous 28000; % </a:t>
            </a:r>
            <a:r>
              <a:rPr lang="en-US" altLang="zh-CN" sz="2000" dirty="0" err="1"/>
              <a:t>uM</a:t>
            </a:r>
            <a:r>
              <a:rPr lang="en-US" altLang="zh-CN" sz="2000" dirty="0"/>
              <a:t> - SO4 concentration at SWI</a:t>
            </a:r>
            <a:endParaRPr lang="it-IT" altLang="zh-CN" sz="2000" dirty="0"/>
          </a:p>
          <a:p>
            <a:r>
              <a:rPr lang="it-IT" altLang="zh-CN" sz="2400" dirty="0"/>
              <a:t>k_calcite = 1E-2;</a:t>
            </a:r>
          </a:p>
          <a:p>
            <a:pPr lvl="1"/>
            <a:r>
              <a:rPr lang="it-IT" altLang="zh-CN" sz="2000" dirty="0"/>
              <a:t>previous 1000; %umol/l/year</a:t>
            </a:r>
          </a:p>
          <a:p>
            <a:r>
              <a:rPr lang="it-IT" altLang="zh-CN" sz="2400" dirty="0"/>
              <a:t>Calcium = 1000; </a:t>
            </a:r>
          </a:p>
          <a:p>
            <a:pPr lvl="1"/>
            <a:r>
              <a:rPr lang="en-US" altLang="zh-CN" sz="2000" dirty="0"/>
              <a:t>previous</a:t>
            </a:r>
            <a:r>
              <a:rPr lang="it-IT" altLang="zh-CN" sz="2000" dirty="0"/>
              <a:t> 10000; % calcium concentration [</a:t>
            </a:r>
            <a:r>
              <a:rPr lang="en-US" altLang="zh-CN" sz="2000" dirty="0" err="1"/>
              <a:t>uM</a:t>
            </a:r>
            <a:r>
              <a:rPr lang="en-US" altLang="zh-CN" sz="2000" dirty="0"/>
              <a:t>?</a:t>
            </a:r>
            <a:r>
              <a:rPr lang="it-IT" altLang="zh-CN" sz="2000" dirty="0"/>
              <a:t>]</a:t>
            </a:r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822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26247-B2D6-A8A6-3CE0-956FFF3C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42C1-2091-237B-224E-067BFD72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723"/>
            <a:ext cx="8921885" cy="1048628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Bug and debug </a:t>
            </a:r>
            <a:endParaRPr lang="zh-CN" alt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F9AF87-3542-C428-3A5E-01CD81C7E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806" y="282962"/>
            <a:ext cx="7471841" cy="3146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4DE431-18D1-FEDC-62BA-190368A6D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71" y="3224915"/>
            <a:ext cx="8059275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1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24B9-8080-5792-D9F6-8135C589B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B2A3-6D30-56C9-3E01-6B70F95B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7" y="156723"/>
            <a:ext cx="9378462" cy="1103508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Different Scenarios under Coupled Model</a:t>
            </a:r>
            <a:br>
              <a:rPr lang="en-US" altLang="zh-CN" sz="4000" b="1" dirty="0"/>
            </a:br>
            <a:r>
              <a:rPr lang="en-US" altLang="zh-CN" sz="4000" b="1" dirty="0"/>
              <a:t>- </a:t>
            </a:r>
            <a:r>
              <a:rPr lang="en-US" altLang="zh-CN" sz="4000" b="1" dirty="0">
                <a:solidFill>
                  <a:srgbClr val="FF0000"/>
                </a:solidFill>
              </a:rPr>
              <a:t>Methane Hotspot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76EAF2-62E5-36C3-D374-10E0B8816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69" y="1530239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T=30; </a:t>
            </a:r>
          </a:p>
          <a:p>
            <a:pPr lvl="1"/>
            <a:r>
              <a:rPr lang="en-US" altLang="zh-CN" sz="2000" dirty="0"/>
              <a:t>degree </a:t>
            </a:r>
            <a:r>
              <a:rPr lang="en-US" altLang="zh-CN" sz="2000" dirty="0" err="1"/>
              <a:t>C;Summer</a:t>
            </a:r>
            <a:r>
              <a:rPr lang="en-US" altLang="zh-CN" sz="2000" dirty="0"/>
              <a:t> </a:t>
            </a:r>
          </a:p>
          <a:p>
            <a:r>
              <a:rPr lang="en-US" altLang="zh-CN" sz="2400" dirty="0"/>
              <a:t>O2init=50;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Anoxic </a:t>
            </a:r>
          </a:p>
          <a:p>
            <a:r>
              <a:rPr lang="en-US" altLang="zh-CN" sz="2400" dirty="0"/>
              <a:t>SO4init = 200;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Freshwater</a:t>
            </a:r>
          </a:p>
          <a:p>
            <a:r>
              <a:rPr lang="en-US" altLang="zh-CN" sz="2400" dirty="0"/>
              <a:t>NPP = 800;</a:t>
            </a:r>
          </a:p>
          <a:p>
            <a:pPr lvl="1"/>
            <a:r>
              <a:rPr lang="en-US" altLang="zh-CN" sz="2000" dirty="0"/>
              <a:t>g/m2/yr; High OC</a:t>
            </a:r>
          </a:p>
          <a:p>
            <a:r>
              <a:rPr lang="en-US" altLang="zh-CN" sz="2400" dirty="0" err="1"/>
              <a:t>Vbottom</a:t>
            </a:r>
            <a:r>
              <a:rPr lang="en-US" altLang="zh-CN" sz="2400" dirty="0"/>
              <a:t>=1;</a:t>
            </a:r>
          </a:p>
          <a:p>
            <a:pPr lvl="1"/>
            <a:r>
              <a:rPr lang="en-US" altLang="zh-CN" sz="2000" dirty="0"/>
              <a:t>cm/yr; Backwater</a:t>
            </a:r>
            <a:endParaRPr lang="it-IT" altLang="zh-CN" sz="2000" dirty="0"/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AD5A28-5F61-D772-6C8A-D99B5B6E7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94"/>
          <a:stretch>
            <a:fillRect/>
          </a:stretch>
        </p:blipFill>
        <p:spPr>
          <a:xfrm>
            <a:off x="3792851" y="1260231"/>
            <a:ext cx="8354081" cy="559776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F431C0-5E56-8496-E053-4FD8F7CC015F}"/>
              </a:ext>
            </a:extLst>
          </p:cNvPr>
          <p:cNvSpPr/>
          <p:nvPr/>
        </p:nvSpPr>
        <p:spPr>
          <a:xfrm>
            <a:off x="5343443" y="1348154"/>
            <a:ext cx="6848557" cy="1776046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318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080AA-30C4-6D79-9484-0802C20E3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D55C-7659-6EDB-592E-6B0E06BAE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7" y="156723"/>
            <a:ext cx="9378462" cy="1103508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Different Scenarios under Coupled Model</a:t>
            </a:r>
            <a:br>
              <a:rPr lang="en-US" altLang="zh-CN" sz="4000" b="1" dirty="0"/>
            </a:br>
            <a:r>
              <a:rPr lang="en-US" altLang="zh-CN" sz="4000" b="1" dirty="0"/>
              <a:t>- </a:t>
            </a:r>
            <a:r>
              <a:rPr lang="en-US" altLang="zh-CN" sz="4000" b="1" dirty="0">
                <a:solidFill>
                  <a:srgbClr val="FF0000"/>
                </a:solidFill>
              </a:rPr>
              <a:t>Spring Mountainous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BFEA70-22B2-0B67-9728-5E0D4BE0F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061" y="1569500"/>
            <a:ext cx="10515600" cy="4351338"/>
          </a:xfrm>
        </p:spPr>
        <p:txBody>
          <a:bodyPr>
            <a:normAutofit lnSpcReduction="10000"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T=5; </a:t>
            </a:r>
          </a:p>
          <a:p>
            <a:pPr lvl="1"/>
            <a:r>
              <a:rPr lang="en-US" altLang="zh-CN" sz="2000" dirty="0"/>
              <a:t>Early Spring </a:t>
            </a:r>
          </a:p>
          <a:p>
            <a:r>
              <a:rPr lang="en-US" altLang="zh-CN" sz="2400" dirty="0"/>
              <a:t>O2init=350;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</a:t>
            </a:r>
            <a:r>
              <a:rPr lang="en-US" altLang="zh-CN" sz="2000" dirty="0" err="1"/>
              <a:t>Oxic</a:t>
            </a:r>
            <a:r>
              <a:rPr lang="en-US" altLang="zh-CN" sz="2000" dirty="0"/>
              <a:t> </a:t>
            </a:r>
          </a:p>
          <a:p>
            <a:r>
              <a:rPr lang="en-US" altLang="zh-CN" sz="2400" dirty="0"/>
              <a:t>SO4init = 500;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Medium</a:t>
            </a:r>
          </a:p>
          <a:p>
            <a:r>
              <a:rPr lang="en-US" altLang="zh-CN" sz="2400" dirty="0"/>
              <a:t>NPP = 10;</a:t>
            </a:r>
          </a:p>
          <a:p>
            <a:pPr lvl="1"/>
            <a:r>
              <a:rPr lang="en-US" altLang="zh-CN" sz="2000" dirty="0"/>
              <a:t>g/m2/yr; Low OC</a:t>
            </a:r>
          </a:p>
          <a:p>
            <a:r>
              <a:rPr lang="en-US" altLang="zh-CN" sz="2400" dirty="0" err="1"/>
              <a:t>Vbottom</a:t>
            </a:r>
            <a:r>
              <a:rPr lang="en-US" altLang="zh-CN" sz="2400" dirty="0"/>
              <a:t>=100;</a:t>
            </a:r>
          </a:p>
          <a:p>
            <a:pPr lvl="1"/>
            <a:r>
              <a:rPr lang="en-US" altLang="zh-CN" sz="2000" dirty="0"/>
              <a:t>cm/yr; Turbulent</a:t>
            </a:r>
            <a:endParaRPr lang="it-IT" altLang="zh-CN" sz="2000" dirty="0"/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BFFD62-C138-43FB-D8EE-66CED9CC0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2" r="835" b="2586"/>
          <a:stretch>
            <a:fillRect/>
          </a:stretch>
        </p:blipFill>
        <p:spPr>
          <a:xfrm>
            <a:off x="3722338" y="1341380"/>
            <a:ext cx="8499231" cy="553222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A12DB4-2798-CE08-915E-BFB895FCA059}"/>
              </a:ext>
            </a:extLst>
          </p:cNvPr>
          <p:cNvSpPr/>
          <p:nvPr/>
        </p:nvSpPr>
        <p:spPr>
          <a:xfrm>
            <a:off x="5258061" y="1405857"/>
            <a:ext cx="6848557" cy="1776046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040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7501F-1150-1211-D2DE-A9A9887BC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BCF4-6E7C-6327-569F-F826FF4B0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7" y="156723"/>
            <a:ext cx="9378462" cy="1103508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Different Scenarios under Coupled Model</a:t>
            </a:r>
            <a:br>
              <a:rPr lang="en-US" altLang="zh-CN" sz="4000" b="1" dirty="0"/>
            </a:br>
            <a:r>
              <a:rPr lang="en-US" altLang="zh-CN" sz="4000" b="1" dirty="0"/>
              <a:t>- </a:t>
            </a:r>
            <a:r>
              <a:rPr lang="en-US" altLang="zh-CN" sz="4000" b="1" dirty="0">
                <a:solidFill>
                  <a:srgbClr val="FF0000"/>
                </a:solidFill>
              </a:rPr>
              <a:t>Carbonate Burial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D3D829-5FE2-17E2-7C2D-0E4E62EF3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446" y="1587084"/>
            <a:ext cx="10515600" cy="4351338"/>
          </a:xfrm>
        </p:spPr>
        <p:txBody>
          <a:bodyPr>
            <a:normAutofit fontScale="92500" lnSpcReduction="20000"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O2init=200;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Normal </a:t>
            </a:r>
          </a:p>
          <a:p>
            <a:r>
              <a:rPr lang="en-US" altLang="zh-CN" sz="2400" dirty="0"/>
              <a:t>SO4init = 3000;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High</a:t>
            </a:r>
          </a:p>
          <a:p>
            <a:r>
              <a:rPr lang="en-US" altLang="zh-CN" sz="2400" dirty="0" err="1"/>
              <a:t>DICinit</a:t>
            </a:r>
            <a:r>
              <a:rPr lang="en-US" altLang="zh-CN" sz="2400" dirty="0"/>
              <a:t>=3000;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High IC </a:t>
            </a:r>
          </a:p>
          <a:p>
            <a:r>
              <a:rPr lang="en-US" altLang="zh-CN" sz="2400" dirty="0"/>
              <a:t>HCO3init = 2000;</a:t>
            </a:r>
          </a:p>
          <a:p>
            <a:pPr lvl="1"/>
            <a:r>
              <a:rPr lang="en-US" altLang="zh-CN" sz="2000" dirty="0" err="1"/>
              <a:t>uM</a:t>
            </a:r>
            <a:r>
              <a:rPr lang="en-US" altLang="zh-CN" sz="2000" dirty="0"/>
              <a:t>; High ALK</a:t>
            </a:r>
          </a:p>
          <a:p>
            <a:r>
              <a:rPr lang="en-US" altLang="zh-CN" sz="2400" dirty="0"/>
              <a:t>NPP = 150;</a:t>
            </a:r>
          </a:p>
          <a:p>
            <a:pPr lvl="1"/>
            <a:r>
              <a:rPr lang="en-US" altLang="zh-CN" sz="2000" dirty="0"/>
              <a:t>g/m2/yr; Mid OC</a:t>
            </a:r>
          </a:p>
          <a:p>
            <a:r>
              <a:rPr lang="en-US" altLang="zh-CN" sz="2400" dirty="0" err="1"/>
              <a:t>Vbottom</a:t>
            </a:r>
            <a:r>
              <a:rPr lang="en-US" altLang="zh-CN" sz="2400" dirty="0"/>
              <a:t>=10;</a:t>
            </a:r>
          </a:p>
          <a:p>
            <a:pPr lvl="1"/>
            <a:r>
              <a:rPr lang="en-US" altLang="zh-CN" sz="2000" dirty="0"/>
              <a:t>cm/yr; Medium</a:t>
            </a:r>
            <a:endParaRPr lang="it-IT" altLang="zh-CN" sz="2000" dirty="0"/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B3C1CA-019E-723E-DE2C-54740D2BD4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52"/>
          <a:stretch>
            <a:fillRect/>
          </a:stretch>
        </p:blipFill>
        <p:spPr>
          <a:xfrm>
            <a:off x="3446181" y="1260231"/>
            <a:ext cx="8745819" cy="566224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46AC03-F28D-F37D-1306-19E2F2E728AF}"/>
              </a:ext>
            </a:extLst>
          </p:cNvPr>
          <p:cNvSpPr/>
          <p:nvPr/>
        </p:nvSpPr>
        <p:spPr>
          <a:xfrm>
            <a:off x="7903308" y="5073569"/>
            <a:ext cx="1442720" cy="1729707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373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DE2E-67CD-690C-79EA-9A967CB41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F492E-6792-C0B8-9139-67199925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477" y="162585"/>
            <a:ext cx="9378462" cy="1103508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/>
              <a:t>Next Step</a:t>
            </a:r>
            <a:br>
              <a:rPr lang="en-US" altLang="zh-CN" sz="4000" b="1" dirty="0"/>
            </a:br>
            <a:r>
              <a:rPr lang="en-US" altLang="zh-CN" sz="4000" b="1" dirty="0"/>
              <a:t>-Adding Input for USGS stations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E5F959-DFE1-9B73-02E9-BC129BD7D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77" y="1639838"/>
            <a:ext cx="5884985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altLang="zh-CN" sz="3200" b="1" dirty="0"/>
              <a:t>Expecting Input</a:t>
            </a:r>
          </a:p>
          <a:p>
            <a:r>
              <a:rPr lang="en-US" altLang="zh-CN" sz="2400" b="1" dirty="0"/>
              <a:t>T</a:t>
            </a:r>
          </a:p>
          <a:p>
            <a:r>
              <a:rPr lang="en-US" altLang="zh-CN" sz="2400" b="1" dirty="0"/>
              <a:t>O2</a:t>
            </a:r>
          </a:p>
          <a:p>
            <a:r>
              <a:rPr lang="en-US" altLang="zh-CN" sz="2400" b="1" dirty="0"/>
              <a:t>ALK/DIC</a:t>
            </a:r>
          </a:p>
          <a:p>
            <a:r>
              <a:rPr lang="en-US" altLang="zh-CN" sz="2400" b="1" dirty="0"/>
              <a:t>POC conc</a:t>
            </a:r>
          </a:p>
          <a:p>
            <a:r>
              <a:rPr lang="en-US" altLang="zh-CN" sz="2400" dirty="0"/>
              <a:t>Grain Distribution </a:t>
            </a:r>
          </a:p>
          <a:p>
            <a:pPr lvl="1"/>
            <a:r>
              <a:rPr lang="en-US" altLang="zh-CN" sz="2000" dirty="0"/>
              <a:t>for Porosity</a:t>
            </a:r>
          </a:p>
          <a:p>
            <a:r>
              <a:rPr lang="en-US" altLang="zh-CN" sz="2400" dirty="0"/>
              <a:t>Sheer V=gHS</a:t>
            </a:r>
            <a:r>
              <a:rPr lang="en-US" altLang="zh-CN" sz="2400" baseline="30000" dirty="0"/>
              <a:t>-2</a:t>
            </a:r>
            <a:r>
              <a:rPr lang="en-US" altLang="zh-CN" sz="2400" dirty="0"/>
              <a:t>  </a:t>
            </a:r>
          </a:p>
          <a:p>
            <a:pPr lvl="1"/>
            <a:r>
              <a:rPr lang="en-US" altLang="zh-CN" sz="2000" dirty="0"/>
              <a:t>for POM setting rate and Hyporheic diffusion</a:t>
            </a:r>
          </a:p>
          <a:p>
            <a:r>
              <a:rPr lang="en-US" altLang="zh-CN" sz="2400" dirty="0"/>
              <a:t>SO4?;  for CH4 proxy</a:t>
            </a:r>
          </a:p>
          <a:p>
            <a:endParaRPr lang="en-US" altLang="zh-CN" sz="2400" dirty="0"/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9FD1CE0B-6058-01A0-BA93-17FE31D055CB}"/>
              </a:ext>
            </a:extLst>
          </p:cNvPr>
          <p:cNvSpPr txBox="1">
            <a:spLocks/>
          </p:cNvSpPr>
          <p:nvPr/>
        </p:nvSpPr>
        <p:spPr>
          <a:xfrm>
            <a:off x="6406662" y="1704316"/>
            <a:ext cx="588498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200" b="1" dirty="0"/>
              <a:t>Expecting Output</a:t>
            </a:r>
          </a:p>
          <a:p>
            <a:r>
              <a:rPr lang="en-US" altLang="zh-CN" sz="2400" dirty="0"/>
              <a:t>CH4 proxy </a:t>
            </a:r>
          </a:p>
          <a:p>
            <a:pPr lvl="1"/>
            <a:r>
              <a:rPr lang="en-US" altLang="zh-CN" sz="2000" dirty="0"/>
              <a:t>Anoxic Depth/</a:t>
            </a:r>
            <a:r>
              <a:rPr lang="en-US" altLang="zh-CN" sz="2000" dirty="0" err="1"/>
              <a:t>Rate_Meth</a:t>
            </a:r>
            <a:endParaRPr lang="en-US" altLang="zh-CN" dirty="0"/>
          </a:p>
          <a:p>
            <a:r>
              <a:rPr lang="en-US" altLang="zh-CN" sz="2400" dirty="0"/>
              <a:t>Carbonate Burial</a:t>
            </a:r>
          </a:p>
          <a:p>
            <a:pPr lvl="1"/>
            <a:r>
              <a:rPr lang="en-US" altLang="zh-CN" sz="2000" dirty="0" err="1"/>
              <a:t>sigma_carb</a:t>
            </a:r>
            <a:endParaRPr lang="en-US" altLang="zh-CN" sz="2000" dirty="0"/>
          </a:p>
          <a:p>
            <a:pPr lvl="1"/>
            <a:endParaRPr lang="it-IT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2934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08B2-F3E4-39A7-65E4-3592F99E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268"/>
            <a:ext cx="10515600" cy="794718"/>
          </a:xfrm>
        </p:spPr>
        <p:txBody>
          <a:bodyPr/>
          <a:lstStyle/>
          <a:p>
            <a:r>
              <a:rPr lang="en-US" altLang="zh-CN" dirty="0"/>
              <a:t>Estuary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B371D-4135-4A64-27B2-E1FD4FCF4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F74B4-738F-CD35-34A9-6616774C3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031" y="800049"/>
            <a:ext cx="12192000" cy="614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30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E1A5-F76A-001B-5229-FDEE542B9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910"/>
            <a:ext cx="10515600" cy="672367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Freshwater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9D540-D11D-7ECE-F946-24601D60C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2D11FE-DB79-1708-8E59-F84237259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2000" cy="643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9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1932</Words>
  <Application>Microsoft Office PowerPoint</Application>
  <PresentationFormat>Widescreen</PresentationFormat>
  <Paragraphs>137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Arial</vt:lpstr>
      <vt:lpstr>Cambria Math</vt:lpstr>
      <vt:lpstr>Times New Roman</vt:lpstr>
      <vt:lpstr>Office Theme</vt:lpstr>
      <vt:lpstr>River Sediment Parameterization (Literature Review)</vt:lpstr>
      <vt:lpstr>Grain Size (d50) as the Master Variable</vt:lpstr>
      <vt:lpstr>Hyporheic Zone Diffusion &amp; Residence Time</vt:lpstr>
      <vt:lpstr>River POM Settling &amp; Flocculation</vt:lpstr>
      <vt:lpstr>Reference</vt:lpstr>
      <vt:lpstr>Multiple Grain Size and Porosity Modeling</vt:lpstr>
      <vt:lpstr>Reference</vt:lpstr>
      <vt:lpstr>Parameter change for river env</vt:lpstr>
      <vt:lpstr>Bug and debug </vt:lpstr>
      <vt:lpstr>Different Scenarios under Coupled Model - Methane Hotspot</vt:lpstr>
      <vt:lpstr>Different Scenarios under Coupled Model - Spring Mountainous</vt:lpstr>
      <vt:lpstr>Different Scenarios under Coupled Model - Carbonate Burial</vt:lpstr>
      <vt:lpstr>Next Step -Adding Input for USGS stations</vt:lpstr>
      <vt:lpstr>Estuary</vt:lpstr>
      <vt:lpstr>Freshwater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</dc:creator>
  <cp:lastModifiedBy>Alex Liu</cp:lastModifiedBy>
  <cp:revision>22</cp:revision>
  <dcterms:created xsi:type="dcterms:W3CDTF">2026-02-09T02:36:33Z</dcterms:created>
  <dcterms:modified xsi:type="dcterms:W3CDTF">2026-05-11T14:25:15Z</dcterms:modified>
</cp:coreProperties>
</file>