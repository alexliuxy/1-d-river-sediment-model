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0"/>
  </p:notesMasterIdLst>
  <p:sldIdLst>
    <p:sldId id="256" r:id="rId2"/>
    <p:sldId id="260" r:id="rId3"/>
    <p:sldId id="262" r:id="rId4"/>
    <p:sldId id="263" r:id="rId5"/>
    <p:sldId id="264" r:id="rId6"/>
    <p:sldId id="265" r:id="rId7"/>
    <p:sldId id="266" r:id="rId8"/>
    <p:sldId id="267" r:id="rId9"/>
    <p:sldId id="269" r:id="rId10"/>
    <p:sldId id="268" r:id="rId11"/>
    <p:sldId id="271" r:id="rId12"/>
    <p:sldId id="272" r:id="rId13"/>
    <p:sldId id="274" r:id="rId14"/>
    <p:sldId id="276" r:id="rId15"/>
    <p:sldId id="275" r:id="rId16"/>
    <p:sldId id="277" r:id="rId17"/>
    <p:sldId id="278" r:id="rId18"/>
    <p:sldId id="270" r:id="rId19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09" d="100"/>
          <a:sy n="109" d="100"/>
        </p:scale>
        <p:origin x="380" y="2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7470B58-3F5F-4379-A1B1-C38E5919F3EB}" type="datetimeFigureOut">
              <a:rPr lang="zh-CN" altLang="en-US" smtClean="0"/>
              <a:t>2026/4/6</a:t>
            </a:fld>
            <a:endParaRPr lang="zh-CN" alt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AB39498-0493-40A5-B4CA-77CDE1E7321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86256380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AB39498-0493-40A5-B4CA-77CDE1E7321E}" type="slidenum">
              <a:rPr lang="zh-CN" altLang="en-US" smtClean="0"/>
              <a:t>4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76689454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E96374-FC23-A8EF-B0C6-CAD66C41AA5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 altLang="zh-CN"/>
              <a:t>Click to edit Master title style</a:t>
            </a:r>
            <a:endParaRPr lang="zh-CN" alt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612F0C8-9707-F384-1CD0-2101E0BD53D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altLang="zh-CN"/>
              <a:t>Click to edit Master subtitle style</a:t>
            </a:r>
            <a:endParaRPr lang="zh-CN" alt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128D5B3-FF16-AEBB-ED7D-DC4838F1B02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A356CC-D3AA-463A-A30D-8B12EA0FD574}" type="datetimeFigureOut">
              <a:rPr lang="zh-CN" altLang="en-US" smtClean="0"/>
              <a:t>2026/4/6</a:t>
            </a:fld>
            <a:endParaRPr lang="zh-CN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C39155B-0AFF-FF60-C2B2-F232F7384D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14F8539-91BC-9C6B-2677-53F272D66C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1998A2-3930-4304-998A-384DB3117834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28581686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508E24-0337-BDF5-76CC-620D1C2FC2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/>
              <a:t>Click to edit Master title style</a:t>
            </a:r>
            <a:endParaRPr lang="zh-CN" alt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4CD9C17-47E1-BA0F-06B4-B6A91C456EF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zh-CN" alt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5223CCA-8E10-59C7-FFF0-F062AFC6F6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A356CC-D3AA-463A-A30D-8B12EA0FD574}" type="datetimeFigureOut">
              <a:rPr lang="zh-CN" altLang="en-US" smtClean="0"/>
              <a:t>2026/4/6</a:t>
            </a:fld>
            <a:endParaRPr lang="zh-CN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9777231-8162-8489-B8D5-0F2D023582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0388557-6D32-E0BF-C2AA-8FF4CA1538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1998A2-3930-4304-998A-384DB3117834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78442228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8C8551-8D9D-9197-D395-CF39B8B9CF6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 altLang="zh-CN"/>
              <a:t>Click to edit Master title style</a:t>
            </a:r>
            <a:endParaRPr lang="zh-CN" alt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76B36A0-7F61-287E-5106-AF021975990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A9C1BA8-FD27-1A6F-AB41-88D5962507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A356CC-D3AA-463A-A30D-8B12EA0FD574}" type="datetimeFigureOut">
              <a:rPr lang="zh-CN" altLang="en-US" smtClean="0"/>
              <a:t>2026/4/6</a:t>
            </a:fld>
            <a:endParaRPr lang="zh-CN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66BCE4F-EABA-F0A5-1DA9-902FB57886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9B2D8BF-BF4F-7CF8-3358-D354D431A2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1998A2-3930-4304-998A-384DB3117834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41862509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9CA450-4595-1C5B-6E46-B002642E27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/>
              <a:t>Click to edit Master title style</a:t>
            </a:r>
            <a:endParaRPr lang="zh-CN" alt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57BEACA-4738-93D8-9395-7BF69AC1614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zh-CN" alt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FAD8E30-07BD-EA84-C5AE-5BBF0769BC3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zh-CN" alt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18949C8-ADDE-B958-8001-230DC58093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A356CC-D3AA-463A-A30D-8B12EA0FD574}" type="datetimeFigureOut">
              <a:rPr lang="zh-CN" altLang="en-US" smtClean="0"/>
              <a:t>2026/4/6</a:t>
            </a:fld>
            <a:endParaRPr lang="zh-CN" alt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720EE2D-2DBB-1A44-296B-6255EAF683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C122E7A-26B3-D768-65A0-0C987C4E4E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1998A2-3930-4304-998A-384DB3117834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85796171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31767F-6D08-803F-0458-E5C855942D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 altLang="zh-CN"/>
              <a:t>Click to edit Master title style</a:t>
            </a:r>
            <a:endParaRPr lang="zh-CN" alt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72DAADC-D39C-EB93-93C5-C0720470C9A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5A3F90C-F88A-71D2-1DD0-08AFB1993E0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zh-CN" alt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07D2DAB-B66B-630C-F81D-7242560CA11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601F3444-18FC-8E44-60BE-4950906CB4C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zh-CN" altLang="en-US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98DC8D5-5F8E-C7E1-EC93-6E3AC24270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A356CC-D3AA-463A-A30D-8B12EA0FD574}" type="datetimeFigureOut">
              <a:rPr lang="zh-CN" altLang="en-US" smtClean="0"/>
              <a:t>2026/4/6</a:t>
            </a:fld>
            <a:endParaRPr lang="zh-CN" alt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12825F3-6A1D-5A3B-5803-032AD056331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4E82DC7-A5CB-09C1-CD43-89CF446D4E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1998A2-3930-4304-998A-384DB3117834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04408224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E10F81-0C73-6379-A070-E36D172A4D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/>
              <a:t>Click to edit Master title style</a:t>
            </a:r>
            <a:endParaRPr lang="zh-CN" alt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40CB2BA-93D6-D19C-B5C6-EBE2305F265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A356CC-D3AA-463A-A30D-8B12EA0FD574}" type="datetimeFigureOut">
              <a:rPr lang="zh-CN" altLang="en-US" smtClean="0"/>
              <a:t>2026/4/6</a:t>
            </a:fld>
            <a:endParaRPr lang="zh-CN" alt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1975E6D-17F4-BB06-B632-08927CA441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0C86C55-851D-1791-A4FF-7D9D6481FA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1998A2-3930-4304-998A-384DB3117834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43079523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A92D89E-8FB5-A536-B10C-0951A9DD92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A356CC-D3AA-463A-A30D-8B12EA0FD574}" type="datetimeFigureOut">
              <a:rPr lang="zh-CN" altLang="en-US" smtClean="0"/>
              <a:t>2026/4/6</a:t>
            </a:fld>
            <a:endParaRPr lang="zh-CN" alt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9C7C7E0-8FD4-0BAD-341B-65046DA7F7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674A904-94A1-A7C2-6C0F-4E30D65613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1998A2-3930-4304-998A-384DB3117834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58173786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889684-0171-0572-E6EA-AF70204DE3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altLang="zh-CN"/>
              <a:t>Click to edit Master title style</a:t>
            </a:r>
            <a:endParaRPr lang="zh-CN" alt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EA900FE-C233-2AD3-6CC3-73E8F39A60B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zh-CN" alt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5EF3B54-9FC3-EA11-E081-D5BCBAE2ADD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C7225C9-B4B2-2C34-7C4C-C0A9D595EE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A356CC-D3AA-463A-A30D-8B12EA0FD574}" type="datetimeFigureOut">
              <a:rPr lang="zh-CN" altLang="en-US" smtClean="0"/>
              <a:t>2026/4/6</a:t>
            </a:fld>
            <a:endParaRPr lang="zh-CN" alt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97F2251-FF47-498C-8835-1534577ABE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88D1A83-1BE7-2290-6994-AE58DC43D8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1998A2-3930-4304-998A-384DB3117834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25176957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560782-7EDE-9442-7671-73E59CFC35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altLang="zh-CN"/>
              <a:t>Click to edit Master title style</a:t>
            </a:r>
            <a:endParaRPr lang="zh-CN" altLang="en-US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27373538-2628-4FBD-9296-33A496FACA2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681ADC3-57D0-6623-688E-B283429C1CB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945DDC3-E66E-68C2-B6A3-0760E170B1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A356CC-D3AA-463A-A30D-8B12EA0FD574}" type="datetimeFigureOut">
              <a:rPr lang="zh-CN" altLang="en-US" smtClean="0"/>
              <a:t>2026/4/6</a:t>
            </a:fld>
            <a:endParaRPr lang="zh-CN" alt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D7C1A5F-99EE-65B1-5619-2FA284E024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62D3C6A-C3C2-8E82-4F31-0E670A8550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1998A2-3930-4304-998A-384DB3117834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27924205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E41B43-FCA3-97C7-9D0D-A8CB1143D7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/>
              <a:t>Click to edit Master title style</a:t>
            </a:r>
            <a:endParaRPr lang="zh-CN" alt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D1662C2-0570-5F7D-A09B-092B60522F8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zh-CN" alt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D90B715-9BE2-A4D1-B2F7-3A18D6F03A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A356CC-D3AA-463A-A30D-8B12EA0FD574}" type="datetimeFigureOut">
              <a:rPr lang="zh-CN" altLang="en-US" smtClean="0"/>
              <a:t>2026/4/6</a:t>
            </a:fld>
            <a:endParaRPr lang="zh-CN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6630F2A-5D88-E375-4977-C186E27E47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CA660AA-7FE6-4B43-8811-E19EF79D6C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1998A2-3930-4304-998A-384DB3117834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01551602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E80F8E8C-18A5-033B-0B83-80C7F039612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 altLang="zh-CN"/>
              <a:t>Click to edit Master title style</a:t>
            </a:r>
            <a:endParaRPr lang="zh-CN" alt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655EB76-AD4A-CC3C-7D22-73F38FF3DD8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zh-CN" alt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0DBCA6C-2F91-0373-9F07-2CFCA39B42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A356CC-D3AA-463A-A30D-8B12EA0FD574}" type="datetimeFigureOut">
              <a:rPr lang="zh-CN" altLang="en-US" smtClean="0"/>
              <a:t>2026/4/6</a:t>
            </a:fld>
            <a:endParaRPr lang="zh-CN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D0B21B3-2E3F-232C-CD43-A46A6253C7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A1D5E21-578C-E1A7-B1BC-42CFF32F7C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1998A2-3930-4304-998A-384DB3117834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8918145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F044B6C3-0DCE-EF94-1357-252CD2FD984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altLang="zh-CN"/>
              <a:t>Click to edit Master title style</a:t>
            </a:r>
            <a:endParaRPr lang="zh-CN" alt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4206B56-7B9E-40B7-0128-2D3BC7F87CC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zh-CN" alt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50BDFCC-ABA5-E5EE-0835-61BB73DA510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9A356CC-D3AA-463A-A30D-8B12EA0FD574}" type="datetimeFigureOut">
              <a:rPr lang="zh-CN" altLang="en-US" smtClean="0"/>
              <a:t>2026/4/6</a:t>
            </a:fld>
            <a:endParaRPr lang="zh-CN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0B3B2A0-3B51-606F-42DA-5DB88695402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0B6F186-4C45-4EF1-0564-57056114FA0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41998A2-3930-4304-998A-384DB3117834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56426699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0C7420-0ABD-344B-AB1C-D6186F10E45C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r>
              <a:rPr lang="en-US" altLang="zh-CN" b="1"/>
              <a:t>River Sediment Parameterization (Literature Review)</a:t>
            </a:r>
            <a:endParaRPr lang="zh-CN" altLang="en-US" b="1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C86CD64-5CC0-8DF2-209F-11C0AC981D78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 altLang="zh-CN"/>
          </a:p>
          <a:p>
            <a:r>
              <a:rPr lang="en-US" altLang="zh-CN"/>
              <a:t>Grain Size, Hyporheic Exchange, POM Settling</a:t>
            </a:r>
          </a:p>
        </p:txBody>
      </p:sp>
    </p:spTree>
    <p:extLst>
      <p:ext uri="{BB962C8B-B14F-4D97-AF65-F5344CB8AC3E}">
        <p14:creationId xmlns:p14="http://schemas.microsoft.com/office/powerpoint/2010/main" val="196927782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934F0F-3FD1-6567-FE07-FE5E7C53E7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E10ADF-AD08-D057-4E64-25828B366D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56723"/>
            <a:ext cx="8921885" cy="1048628"/>
          </a:xfrm>
        </p:spPr>
        <p:txBody>
          <a:bodyPr>
            <a:normAutofit fontScale="90000"/>
          </a:bodyPr>
          <a:lstStyle/>
          <a:p>
            <a:r>
              <a:rPr lang="en-US" altLang="zh-CN" sz="4000" b="1"/>
              <a:t>Grain</a:t>
            </a:r>
            <a:r>
              <a:rPr lang="en-US" altLang="zh-CN" b="1"/>
              <a:t> Size (</a:t>
            </a:r>
            <a:r>
              <a:rPr lang="en-US" altLang="zh-CN" b="1" i="1"/>
              <a:t>d</a:t>
            </a:r>
            <a:r>
              <a:rPr lang="en-US" altLang="zh-CN" b="1" i="1" baseline="-25000"/>
              <a:t>50</a:t>
            </a:r>
            <a:r>
              <a:rPr lang="en-US" altLang="zh-CN" b="1"/>
              <a:t>) as the Master Variable</a:t>
            </a:r>
            <a:endParaRPr lang="zh-CN" altLang="en-US" b="1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A6D042C-749E-54C8-8E22-275482E3E61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67966" y="1089498"/>
                <a:ext cx="11251660" cy="5611779"/>
              </a:xfrm>
            </p:spPr>
            <p:txBody>
              <a:bodyPr>
                <a:normAutofit/>
              </a:bodyPr>
              <a:lstStyle/>
              <a:p>
                <a:pPr marL="514350" indent="-514350">
                  <a:lnSpc>
                    <a:spcPct val="120000"/>
                  </a:lnSpc>
                  <a:spcAft>
                    <a:spcPts val="600"/>
                  </a:spcAft>
                  <a:buAutoNum type="arabicPeriod"/>
                </a:pPr>
                <a:r>
                  <a:rPr lang="en-US" altLang="zh-CN" sz="2000" b="1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Core Equations: </a:t>
                </a:r>
              </a:p>
              <a:p>
                <a:pPr lvl="1">
                  <a:lnSpc>
                    <a:spcPct val="120000"/>
                  </a:lnSpc>
                  <a:spcAft>
                    <a:spcPts val="600"/>
                  </a:spcAft>
                </a:pPr>
                <a:r>
                  <a:rPr lang="en-US" altLang="zh-CN" sz="1600" b="1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Porosity: Modeled as a function of the median grain size.</a:t>
                </a:r>
              </a:p>
              <a:p>
                <a:pPr marL="914400" lvl="2" indent="0" algn="ctr">
                  <a:lnSpc>
                    <a:spcPct val="120000"/>
                  </a:lnSpc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zh-CN" altLang="en-US" sz="1400" b="1" i="1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zh-CN" altLang="en-US" sz="1400" b="1" i="1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𝝓</m:t>
                        </m:r>
                      </m:e>
                      <m:sub>
                        <m:r>
                          <a:rPr lang="zh-CN" altLang="en-US" sz="1400" b="1" i="1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𝟎</m:t>
                        </m:r>
                      </m:sub>
                    </m:sSub>
                    <m:r>
                      <a:rPr lang="zh-CN" altLang="en-US" sz="1400" b="1" i="1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=</m:t>
                    </m:r>
                    <m:r>
                      <a:rPr lang="zh-CN" altLang="en-US" sz="1400" b="1" i="1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𝟎</m:t>
                    </m:r>
                    <m:r>
                      <a:rPr lang="zh-CN" altLang="en-US" sz="1400" b="1" i="1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.</m:t>
                    </m:r>
                    <m:r>
                      <a:rPr lang="zh-CN" altLang="en-US" sz="1400" b="1" i="1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𝟑𝟓</m:t>
                    </m:r>
                    <m:r>
                      <a:rPr lang="zh-CN" altLang="en-US" sz="1400" b="1" i="1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+</m:t>
                    </m:r>
                    <m:r>
                      <a:rPr lang="zh-CN" altLang="en-US" sz="1400" b="1" i="1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𝟎</m:t>
                    </m:r>
                    <m:r>
                      <a:rPr lang="zh-CN" altLang="en-US" sz="1400" b="1" i="1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.</m:t>
                    </m:r>
                    <m:r>
                      <a:rPr lang="zh-CN" altLang="en-US" sz="1400" b="1" i="1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𝟏</m:t>
                    </m:r>
                    <m:func>
                      <m:funcPr>
                        <m:ctrlPr>
                          <a:rPr lang="zh-CN" altLang="en-US" sz="1400" b="1" i="1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zh-CN" altLang="en-US" sz="140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exp</m:t>
                        </m:r>
                        <m:r>
                          <a:rPr lang="en-US" altLang="zh-CN" sz="1400" b="0" i="0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 </m:t>
                        </m:r>
                      </m:fName>
                      <m:e>
                        <m:d>
                          <m:dPr>
                            <m:ctrlPr>
                              <a:rPr lang="zh-CN" altLang="en-US" sz="1400" b="1" i="1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dPr>
                          <m:e>
                            <m:r>
                              <a:rPr lang="zh-CN" altLang="en-US" sz="1400" b="1" i="1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−</m:t>
                            </m:r>
                            <m:sSub>
                              <m:sSubPr>
                                <m:ctrlPr>
                                  <a:rPr lang="zh-CN" altLang="en-US" sz="1400" b="1" i="1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zh-CN" altLang="en-US" sz="1400" b="1" i="1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𝒅</m:t>
                                </m:r>
                              </m:e>
                              <m:sub>
                                <m:r>
                                  <a:rPr lang="zh-CN" altLang="en-US" sz="1400" b="1" i="1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𝟓𝟎</m:t>
                                </m:r>
                              </m:sub>
                            </m:sSub>
                            <m:r>
                              <m:rPr>
                                <m:lit/>
                              </m:rPr>
                              <a:rPr lang="zh-CN" altLang="en-US" sz="1400" b="1" i="1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/</m:t>
                            </m:r>
                            <m:r>
                              <a:rPr lang="zh-CN" altLang="en-US" sz="1400" b="1" i="1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𝟎</m:t>
                            </m:r>
                            <m:r>
                              <a:rPr lang="zh-CN" altLang="en-US" sz="1400" b="1" i="1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.</m:t>
                            </m:r>
                            <m:r>
                              <a:rPr lang="zh-CN" altLang="en-US" sz="1400" b="1" i="1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𝟓</m:t>
                            </m:r>
                          </m:e>
                        </m:d>
                      </m:e>
                    </m:func>
                  </m:oMath>
                </a14:m>
                <a:r>
                  <a:rPr lang="en-US" altLang="zh-CN" sz="1400" b="1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	(Boudreau, 1997) </a:t>
                </a:r>
              </a:p>
              <a:p>
                <a:pPr lvl="1">
                  <a:lnSpc>
                    <a:spcPct val="120000"/>
                  </a:lnSpc>
                  <a:spcAft>
                    <a:spcPts val="600"/>
                  </a:spcAft>
                </a:pPr>
                <a:r>
                  <a:rPr lang="en-US" altLang="zh-CN" sz="1600" b="1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Kozeny-Carman Equation: Establishes the link between grain size and permeability (</a:t>
                </a:r>
                <a14:m>
                  <m:oMath xmlns:m="http://schemas.openxmlformats.org/officeDocument/2006/math">
                    <m:r>
                      <a:rPr lang="en-US" altLang="zh-CN" sz="1600" b="1" i="1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𝒌</m:t>
                    </m:r>
                  </m:oMath>
                </a14:m>
                <a:r>
                  <a:rPr lang="en-US" altLang="zh-CN" sz="1600" b="1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). </a:t>
                </a:r>
              </a:p>
              <a:p>
                <a:pPr marL="914400" lvl="2" indent="0" algn="ctr">
                  <a:lnSpc>
                    <a:spcPct val="120000"/>
                  </a:lnSpc>
                  <a:spcAft>
                    <a:spcPts val="600"/>
                  </a:spcAft>
                  <a:buNone/>
                </a:pPr>
                <a14:m>
                  <m:oMath xmlns:m="http://schemas.openxmlformats.org/officeDocument/2006/math">
                    <m:r>
                      <a:rPr lang="en-US" altLang="zh-CN" sz="1400" b="1" i="1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𝒌</m:t>
                    </m:r>
                    <m:r>
                      <a:rPr lang="en-US" altLang="zh-CN" sz="1400" b="1" i="1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≈</m:t>
                    </m:r>
                    <m:f>
                      <m:fPr>
                        <m:ctrlPr>
                          <a:rPr lang="en-US" altLang="zh-CN" sz="1400" b="1" i="1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fPr>
                      <m:num>
                        <m:sSubSup>
                          <m:sSubSupPr>
                            <m:ctrlPr>
                              <a:rPr lang="en-US" altLang="zh-CN" sz="1400" b="1" i="1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sSubSupPr>
                          <m:e>
                            <m:r>
                              <a:rPr lang="en-US" altLang="zh-CN" sz="1400" b="1" i="1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𝒅</m:t>
                            </m:r>
                          </m:e>
                          <m:sub>
                            <m:r>
                              <a:rPr lang="en-US" altLang="zh-CN" sz="1400" b="1" i="1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𝟓𝟎</m:t>
                            </m:r>
                          </m:sub>
                          <m:sup>
                            <m:r>
                              <a:rPr lang="en-US" altLang="zh-CN" sz="1400" b="1" i="1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𝟐</m:t>
                            </m:r>
                          </m:sup>
                        </m:sSubSup>
                        <m:sSup>
                          <m:sSupPr>
                            <m:ctrlPr>
                              <a:rPr lang="en-US" altLang="zh-CN" sz="1400" b="1" i="1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sSupPr>
                          <m:e>
                            <m:r>
                              <a:rPr lang="en-US" altLang="zh-CN" sz="1400" b="1" i="1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𝝓</m:t>
                            </m:r>
                          </m:e>
                          <m:sup>
                            <m:r>
                              <a:rPr lang="en-US" altLang="zh-CN" sz="1400" b="1" i="1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𝟑</m:t>
                            </m:r>
                          </m:sup>
                        </m:sSup>
                      </m:num>
                      <m:den>
                        <m:r>
                          <a:rPr lang="en-US" altLang="zh-CN" sz="1400" b="1" i="1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𝟏𝟖𝟎</m:t>
                        </m:r>
                        <m:sSup>
                          <m:sSupPr>
                            <m:ctrlPr>
                              <a:rPr lang="en-US" altLang="zh-CN" sz="1400" b="1" i="1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sSupPr>
                          <m:e>
                            <m:d>
                              <m:dPr>
                                <m:ctrlPr>
                                  <a:rPr lang="en-US" altLang="zh-CN" sz="1400" b="1" i="1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altLang="zh-CN" sz="1400" b="1" i="1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𝟏</m:t>
                                </m:r>
                                <m:r>
                                  <a:rPr lang="en-US" altLang="zh-CN" sz="1400" b="1" i="1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−</m:t>
                                </m:r>
                                <m:r>
                                  <a:rPr lang="en-US" altLang="zh-CN" sz="1400" b="1" i="1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𝝓</m:t>
                                </m:r>
                              </m:e>
                            </m:d>
                          </m:e>
                          <m:sup>
                            <m:r>
                              <a:rPr lang="en-US" altLang="zh-CN" sz="1400" b="1" i="1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𝟐</m:t>
                            </m:r>
                          </m:sup>
                        </m:sSup>
                      </m:den>
                    </m:f>
                  </m:oMath>
                </a14:m>
                <a:r>
                  <a:rPr lang="en-US" altLang="zh-CN" sz="1400" b="1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	(Bear, 1972; Carman, 1956) </a:t>
                </a:r>
              </a:p>
              <a:p>
                <a:pPr marL="514350" indent="-514350">
                  <a:lnSpc>
                    <a:spcPct val="120000"/>
                  </a:lnSpc>
                  <a:spcAft>
                    <a:spcPts val="600"/>
                  </a:spcAft>
                  <a:buAutoNum type="arabicPeriod"/>
                </a:pPr>
                <a:r>
                  <a:rPr lang="en-US" altLang="zh-CN" sz="2000" b="1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Parameter Definitions:</a:t>
                </a:r>
                <a:endParaRPr lang="en-US" altLang="zh-CN" sz="2000" b="1" i="1">
                  <a:latin typeface="Cambria Math" panose="02040503050406030204" pitchFamily="18" charset="0"/>
                  <a:cs typeface="Times New Roman" panose="02020603050405020304" pitchFamily="18" charset="0"/>
                </a:endParaRPr>
              </a:p>
              <a:p>
                <a:pPr lvl="1">
                  <a:lnSpc>
                    <a:spcPct val="120000"/>
                  </a:lnSpc>
                  <a:spcAft>
                    <a:spcPts val="600"/>
                  </a:spcAft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sz="1600" b="1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US" altLang="zh-CN" sz="1600" b="1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𝒅</m:t>
                        </m:r>
                      </m:e>
                      <m:sub>
                        <m:r>
                          <a:rPr lang="en-US" altLang="zh-CN" sz="1600" b="1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𝟓𝟎</m:t>
                        </m:r>
                      </m:sub>
                    </m:sSub>
                  </m:oMath>
                </a14:m>
                <a:r>
                  <a:rPr lang="en-US" altLang="zh-CN" sz="1600" b="1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: Median Grain Size. Source: USGS NWIS or Field Sieving. Range: 0.1 – 1.0 mm (Fine to Coarse Sand).</a:t>
                </a:r>
              </a:p>
              <a:p>
                <a:pPr lvl="1">
                  <a:lnSpc>
                    <a:spcPct val="120000"/>
                  </a:lnSpc>
                  <a:spcAft>
                    <a:spcPts val="600"/>
                  </a:spcAft>
                </a:pPr>
                <a14:m>
                  <m:oMath xmlns:m="http://schemas.openxmlformats.org/officeDocument/2006/math">
                    <m:r>
                      <a:rPr lang="en-US" altLang="zh-CN" sz="1600" b="1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𝝓</m:t>
                    </m:r>
                  </m:oMath>
                </a14:m>
                <a:r>
                  <a:rPr lang="en-US" altLang="zh-CN" sz="1600" b="1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: Porosity. Source: Derived from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sz="1600" b="1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US" altLang="zh-CN" sz="1600" b="1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𝒅</m:t>
                        </m:r>
                      </m:e>
                      <m:sub>
                        <m:r>
                          <a:rPr lang="en-US" altLang="zh-CN" sz="1600" b="1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𝟓𝟎</m:t>
                        </m:r>
                      </m:sub>
                    </m:sSub>
                  </m:oMath>
                </a14:m>
                <a:r>
                  <a:rPr lang="en-US" altLang="zh-CN" sz="1600" b="1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or bulk density. Range: 0.30 - 0.45 .</a:t>
                </a:r>
              </a:p>
              <a:p>
                <a:pPr marL="514350" indent="-514350">
                  <a:lnSpc>
                    <a:spcPct val="120000"/>
                  </a:lnSpc>
                  <a:spcAft>
                    <a:spcPts val="600"/>
                  </a:spcAft>
                  <a:buAutoNum type="arabicPeriod"/>
                </a:pPr>
                <a:r>
                  <a:rPr lang="en-US" altLang="zh-CN" sz="2000" b="1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Implementation Strategy:</a:t>
                </a:r>
              </a:p>
              <a:p>
                <a:pPr lvl="1">
                  <a:lnSpc>
                    <a:spcPct val="120000"/>
                  </a:lnSpc>
                  <a:spcAft>
                    <a:spcPts val="600"/>
                  </a:spcAft>
                </a:pPr>
                <a:r>
                  <a:rPr lang="en-US" altLang="zh-CN" sz="1600" b="1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Current Code: Hardcoded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zh-CN" sz="1600" b="0" i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prostop</m:t>
                    </m:r>
                    <m:r>
                      <a:rPr lang="en-US" altLang="zh-CN" sz="1600" b="0" i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= 0.9</m:t>
                    </m:r>
                  </m:oMath>
                </a14:m>
                <a:r>
                  <a:rPr lang="en-US" altLang="zh-CN" sz="1600" b="1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(representative of mud/clay).</a:t>
                </a:r>
              </a:p>
              <a:p>
                <a:pPr lvl="1">
                  <a:lnSpc>
                    <a:spcPct val="120000"/>
                  </a:lnSpc>
                  <a:spcAft>
                    <a:spcPts val="600"/>
                  </a:spcAft>
                </a:pPr>
                <a:r>
                  <a:rPr lang="en-US" altLang="zh-CN" sz="1600" b="1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Proposed: Use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sz="1600" b="1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US" altLang="zh-CN" sz="1600" b="1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𝒅</m:t>
                        </m:r>
                      </m:e>
                      <m:sub>
                        <m:r>
                          <a:rPr lang="en-US" altLang="zh-CN" sz="1600" b="1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𝟓𝟎</m:t>
                        </m:r>
                      </m:sub>
                    </m:sSub>
                  </m:oMath>
                </a14:m>
                <a:r>
                  <a:rPr lang="en-US" altLang="zh-CN" sz="1600" b="1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as a single site-level input to automate the initialization of </a:t>
                </a:r>
                <a14:m>
                  <m:oMath xmlns:m="http://schemas.openxmlformats.org/officeDocument/2006/math">
                    <m:r>
                      <a:rPr lang="en-US" altLang="zh-CN" sz="1600" b="1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𝝓</m:t>
                    </m:r>
                  </m:oMath>
                </a14:m>
                <a:r>
                  <a:rPr lang="en-US" altLang="zh-CN" sz="1600" b="1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and </a:t>
                </a:r>
                <a:r>
                  <a:rPr lang="en-US" altLang="zh-CN" sz="1600" b="1" i="1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k</a:t>
                </a:r>
                <a:r>
                  <a:rPr lang="en-US" altLang="zh-CN" sz="1600" b="1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.</a:t>
                </a:r>
                <a:endParaRPr lang="en-US" altLang="zh-CN" sz="1600" b="1" i="1">
                  <a:latin typeface="Cambria Math" panose="020405030504060302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A6D042C-749E-54C8-8E22-275482E3E61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67966" y="1089498"/>
                <a:ext cx="11251660" cy="5611779"/>
              </a:xfrm>
              <a:blipFill>
                <a:blip r:embed="rId2"/>
                <a:stretch>
                  <a:fillRect l="-488" t="-109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93451180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628BE4-E7B7-080B-96DD-E4DB02E9BC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4B4B75-BF3B-AE5F-0CC9-BDA660E434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56723"/>
            <a:ext cx="8921885" cy="1048628"/>
          </a:xfrm>
        </p:spPr>
        <p:txBody>
          <a:bodyPr>
            <a:normAutofit fontScale="90000"/>
          </a:bodyPr>
          <a:lstStyle/>
          <a:p>
            <a:r>
              <a:rPr lang="en-US" altLang="zh-CN" sz="4000" b="1"/>
              <a:t>Hyporheic Zone Diffusion &amp; Residence Time</a:t>
            </a:r>
            <a:endParaRPr lang="zh-CN" altLang="en-US" b="1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195E533-A2CF-C1F6-39FD-7E2516FB377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67966" y="1089498"/>
                <a:ext cx="11251660" cy="5611779"/>
              </a:xfrm>
            </p:spPr>
            <p:txBody>
              <a:bodyPr>
                <a:normAutofit fontScale="92500" lnSpcReduction="20000"/>
              </a:bodyPr>
              <a:lstStyle/>
              <a:p>
                <a:pPr marL="514350" indent="-514350">
                  <a:lnSpc>
                    <a:spcPct val="120000"/>
                  </a:lnSpc>
                  <a:spcAft>
                    <a:spcPts val="600"/>
                  </a:spcAft>
                  <a:buAutoNum type="arabicPeriod"/>
                </a:pPr>
                <a:r>
                  <a:rPr lang="en-US" altLang="zh-CN" sz="2000" b="1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Core Equations: </a:t>
                </a:r>
              </a:p>
              <a:p>
                <a:pPr lvl="1">
                  <a:lnSpc>
                    <a:spcPct val="120000"/>
                  </a:lnSpc>
                  <a:spcAft>
                    <a:spcPts val="600"/>
                  </a:spcAft>
                </a:pPr>
                <a:r>
                  <a:rPr lang="en-US" altLang="zh-CN" sz="1600" b="1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Effective Diffusivity 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sz="1600" b="1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US" altLang="zh-CN" sz="1600" b="1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𝑫</m:t>
                        </m:r>
                      </m:e>
                      <m:sub>
                        <m:r>
                          <a:rPr lang="en-US" altLang="zh-CN" sz="1600" b="1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𝒆𝒇𝒇</m:t>
                        </m:r>
                      </m:sub>
                    </m:sSub>
                  </m:oMath>
                </a14:m>
                <a:r>
                  <a:rPr lang="en-US" altLang="zh-CN" sz="1600" b="1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): Molecular diffusion 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sz="1600" b="1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US" altLang="zh-CN" sz="1600" b="1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𝑫</m:t>
                        </m:r>
                      </m:e>
                      <m:sub>
                        <m:r>
                          <a:rPr lang="en-US" altLang="zh-CN" sz="1600" b="1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𝒎</m:t>
                        </m:r>
                      </m:sub>
                    </m:sSub>
                  </m:oMath>
                </a14:m>
                <a:r>
                  <a:rPr lang="en-US" altLang="zh-CN" sz="1600" b="1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) enhanced by shear-driven advective pumping in sandy beds.</a:t>
                </a:r>
              </a:p>
              <a:p>
                <a:pPr marL="914400" lvl="2" indent="0" algn="ctr">
                  <a:lnSpc>
                    <a:spcPct val="120000"/>
                  </a:lnSpc>
                  <a:spcAft>
                    <a:spcPts val="600"/>
                  </a:spcAft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sz="1600" b="1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lang="en-US" altLang="zh-CN" sz="1600" b="1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𝑫</m:t>
                          </m:r>
                        </m:e>
                        <m:sub>
                          <m:r>
                            <a:rPr lang="en-US" altLang="zh-CN" sz="1600" b="1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𝒆𝒇𝒇</m:t>
                          </m:r>
                        </m:sub>
                      </m:sSub>
                      <m:r>
                        <a:rPr lang="en-US" altLang="zh-CN" sz="1600" b="1" i="1" smtClean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altLang="zh-CN" sz="1600" b="1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lang="en-US" altLang="zh-CN" sz="1600" b="1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𝑫</m:t>
                          </m:r>
                        </m:e>
                        <m:sub>
                          <m:r>
                            <a:rPr lang="en-US" altLang="zh-CN" sz="1600" b="1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𝒎</m:t>
                          </m:r>
                        </m:sub>
                      </m:sSub>
                      <m:r>
                        <a:rPr lang="en-US" altLang="zh-CN" sz="1600" b="1" i="1" smtClean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⋅</m:t>
                      </m:r>
                      <m:sSup>
                        <m:sSupPr>
                          <m:ctrlPr>
                            <a:rPr lang="en-US" altLang="zh-CN" sz="1600" b="1" i="1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pPr>
                        <m:e>
                          <m:r>
                            <a:rPr lang="en-US" altLang="zh-CN" sz="1600" b="1" i="1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𝜽</m:t>
                          </m:r>
                        </m:e>
                        <m:sup>
                          <m:r>
                            <a:rPr lang="en-US" altLang="zh-CN" sz="1600" b="1" i="1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−</m:t>
                          </m:r>
                          <m:r>
                            <a:rPr lang="en-US" altLang="zh-CN" sz="1600" b="1" i="1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𝟐</m:t>
                          </m:r>
                        </m:sup>
                      </m:sSup>
                      <m:r>
                        <a:rPr lang="en-US" altLang="zh-CN" sz="1600" b="1" i="1" smtClean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altLang="zh-CN" sz="1600" b="1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lang="en-US" altLang="zh-CN" sz="1600" b="1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𝜶</m:t>
                          </m:r>
                        </m:e>
                        <m:sub>
                          <m:r>
                            <a:rPr lang="en-US" altLang="zh-CN" sz="1600" b="1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𝑳</m:t>
                          </m:r>
                        </m:sub>
                      </m:sSub>
                      <m:sSub>
                        <m:sSubPr>
                          <m:ctrlPr>
                            <a:rPr lang="en-US" altLang="zh-CN" sz="1600" b="1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lang="en-US" altLang="zh-CN" sz="1600" b="1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𝒖</m:t>
                          </m:r>
                        </m:e>
                        <m:sub>
                          <m:r>
                            <a:rPr lang="en-US" altLang="zh-CN" sz="1600" b="1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∗</m:t>
                          </m:r>
                        </m:sub>
                      </m:sSub>
                      <m:r>
                        <a:rPr lang="en-US" altLang="zh-CN" sz="1600" b="1" i="1" smtClean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 </m:t>
                      </m:r>
                      <m:r>
                        <m:rPr>
                          <m:nor/>
                        </m:rPr>
                        <a:rPr lang="en-US" altLang="zh-CN" sz="1600" b="1" i="0" smtClean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(</m:t>
                      </m:r>
                      <m:r>
                        <m:rPr>
                          <m:nor/>
                        </m:rPr>
                        <a:rPr lang="en-US" altLang="zh-CN" sz="1600" b="1" i="0" smtClean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Grant</m:t>
                      </m:r>
                      <m:r>
                        <m:rPr>
                          <m:nor/>
                        </m:rPr>
                        <a:rPr lang="en-US" altLang="zh-CN" sz="1600" b="1" i="0" smtClean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 </m:t>
                      </m:r>
                      <m:r>
                        <m:rPr>
                          <m:nor/>
                        </m:rPr>
                        <a:rPr lang="en-US" altLang="zh-CN" sz="1600" b="1" i="0" smtClean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et</m:t>
                      </m:r>
                      <m:r>
                        <m:rPr>
                          <m:nor/>
                        </m:rPr>
                        <a:rPr lang="en-US" altLang="zh-CN" sz="1600" b="1" i="0" smtClean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 </m:t>
                      </m:r>
                      <m:r>
                        <m:rPr>
                          <m:nor/>
                        </m:rPr>
                        <a:rPr lang="en-US" altLang="zh-CN" sz="1600" b="1" i="0" smtClean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al</m:t>
                      </m:r>
                      <m:r>
                        <m:rPr>
                          <m:nor/>
                        </m:rPr>
                        <a:rPr lang="en-US" altLang="zh-CN" sz="1600" b="1" i="0" smtClean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., 2012; </m:t>
                      </m:r>
                      <m:r>
                        <m:rPr>
                          <m:nor/>
                        </m:rPr>
                        <a:rPr lang="en-US" altLang="zh-CN" sz="1600" b="1" i="0" smtClean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Boano</m:t>
                      </m:r>
                      <m:r>
                        <m:rPr>
                          <m:nor/>
                        </m:rPr>
                        <a:rPr lang="en-US" altLang="zh-CN" sz="1600" b="1" i="0" smtClean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 </m:t>
                      </m:r>
                      <m:r>
                        <m:rPr>
                          <m:nor/>
                        </m:rPr>
                        <a:rPr lang="en-US" altLang="zh-CN" sz="1600" b="1" i="0" smtClean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et</m:t>
                      </m:r>
                      <m:r>
                        <m:rPr>
                          <m:nor/>
                        </m:rPr>
                        <a:rPr lang="en-US" altLang="zh-CN" sz="1600" b="1" i="0" smtClean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 </m:t>
                      </m:r>
                      <m:r>
                        <m:rPr>
                          <m:nor/>
                        </m:rPr>
                        <a:rPr lang="en-US" altLang="zh-CN" sz="1600" b="1" i="0" smtClean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al</m:t>
                      </m:r>
                      <m:r>
                        <m:rPr>
                          <m:nor/>
                        </m:rPr>
                        <a:rPr lang="en-US" altLang="zh-CN" sz="1600" b="1" i="0" smtClean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., 2014)</m:t>
                      </m:r>
                    </m:oMath>
                  </m:oMathPara>
                </a14:m>
                <a:endParaRPr lang="en-US" altLang="zh-CN" sz="1600" b="1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lvl="1">
                  <a:lnSpc>
                    <a:spcPct val="120000"/>
                  </a:lnSpc>
                  <a:spcAft>
                    <a:spcPts val="600"/>
                  </a:spcAft>
                </a:pPr>
                <a:r>
                  <a:rPr lang="en-US" altLang="zh-CN" sz="1600" b="1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Residence Time (</a:t>
                </a:r>
                <a14:m>
                  <m:oMath xmlns:m="http://schemas.openxmlformats.org/officeDocument/2006/math">
                    <m:r>
                      <a:rPr lang="en-US" altLang="zh-CN" sz="1600" b="1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𝝉</m:t>
                    </m:r>
                  </m:oMath>
                </a14:m>
                <a:r>
                  <a:rPr lang="en-US" altLang="zh-CN" sz="1600" b="1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): Determines the window for biogeochemical reactions; inversely proportional to permeability and flow .</a:t>
                </a:r>
              </a:p>
              <a:p>
                <a:pPr marL="1371600" lvl="3" indent="0">
                  <a:lnSpc>
                    <a:spcPct val="120000"/>
                  </a:lnSpc>
                  <a:spcAft>
                    <a:spcPts val="600"/>
                  </a:spcAft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600" b="1" i="1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𝝉</m:t>
                      </m:r>
                      <m:r>
                        <a:rPr lang="en-US" altLang="zh-CN" sz="1600" b="1" i="1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≈</m:t>
                      </m:r>
                      <m:f>
                        <m:fPr>
                          <m:ctrlPr>
                            <a:rPr lang="en-US" altLang="zh-CN" sz="1600" b="1" i="1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fPr>
                        <m:num>
                          <m:r>
                            <a:rPr lang="en-US" altLang="zh-CN" sz="1600" b="1" i="1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𝑳</m:t>
                          </m:r>
                        </m:num>
                        <m:den>
                          <m:sSub>
                            <m:sSubPr>
                              <m:ctrlPr>
                                <a:rPr lang="en-US" altLang="zh-CN" sz="1600" b="1" i="1"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sz="1600" b="1" i="1"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𝒗</m:t>
                              </m:r>
                            </m:e>
                            <m:sub>
                              <m:r>
                                <a:rPr lang="en-US" altLang="zh-CN" sz="1600" b="1" i="1"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𝒑</m:t>
                              </m:r>
                            </m:sub>
                          </m:sSub>
                        </m:den>
                      </m:f>
                      <m:r>
                        <a:rPr lang="en-US" altLang="zh-CN" sz="1600" b="1" i="1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∝</m:t>
                      </m:r>
                      <m:f>
                        <m:fPr>
                          <m:ctrlPr>
                            <a:rPr lang="en-US" altLang="zh-CN" sz="1600" b="1" i="1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fPr>
                        <m:num>
                          <m:r>
                            <a:rPr lang="en-US" altLang="zh-CN" sz="1600" b="1" i="1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𝟏</m:t>
                          </m:r>
                        </m:num>
                        <m:den>
                          <m:r>
                            <a:rPr lang="en-US" altLang="zh-CN" sz="1600" b="1" i="1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𝒌</m:t>
                          </m:r>
                          <m:r>
                            <a:rPr lang="en-US" altLang="zh-CN" sz="1600" b="1" i="1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⋅</m:t>
                          </m:r>
                          <m:sSubSup>
                            <m:sSubSupPr>
                              <m:ctrlPr>
                                <a:rPr lang="en-US" altLang="zh-CN" sz="1600" b="1" i="1"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altLang="zh-CN" sz="1600" b="1" i="1"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𝒖</m:t>
                              </m:r>
                            </m:e>
                            <m:sub>
                              <m:r>
                                <a:rPr lang="en-US" altLang="zh-CN" sz="1600" b="1" i="1"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∗</m:t>
                              </m:r>
                            </m:sub>
                            <m:sup>
                              <m:r>
                                <a:rPr lang="en-US" altLang="zh-CN" sz="1600" b="1" i="1"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𝟐</m:t>
                              </m:r>
                            </m:sup>
                          </m:sSubSup>
                        </m:den>
                      </m:f>
                      <m:r>
                        <a:rPr lang="en-US" altLang="zh-CN" sz="1600" b="1" i="1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 </m:t>
                      </m:r>
                      <m:r>
                        <m:rPr>
                          <m:nor/>
                        </m:rPr>
                        <a:rPr lang="en-US" altLang="zh-CN" sz="1600" b="1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(</m:t>
                      </m:r>
                      <m:r>
                        <m:rPr>
                          <m:nor/>
                        </m:rPr>
                        <a:rPr lang="en-US" altLang="zh-CN" sz="1600" b="1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Cardenas</m:t>
                      </m:r>
                      <m:r>
                        <m:rPr>
                          <m:nor/>
                        </m:rPr>
                        <a:rPr lang="en-US" altLang="zh-CN" sz="1600" b="1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 </m:t>
                      </m:r>
                      <m:r>
                        <m:rPr>
                          <m:nor/>
                        </m:rPr>
                        <a:rPr lang="en-US" altLang="zh-CN" sz="1600" b="1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et</m:t>
                      </m:r>
                      <m:r>
                        <m:rPr>
                          <m:nor/>
                        </m:rPr>
                        <a:rPr lang="en-US" altLang="zh-CN" sz="1600" b="1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 </m:t>
                      </m:r>
                      <m:r>
                        <m:rPr>
                          <m:nor/>
                        </m:rPr>
                        <a:rPr lang="en-US" altLang="zh-CN" sz="1600" b="1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al</m:t>
                      </m:r>
                      <m:r>
                        <m:rPr>
                          <m:nor/>
                        </m:rPr>
                        <a:rPr lang="en-US" altLang="zh-CN" sz="1600" b="1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., 2004)</m:t>
                      </m:r>
                    </m:oMath>
                  </m:oMathPara>
                </a14:m>
                <a:endParaRPr lang="en-US" altLang="zh-CN" sz="1600" b="1">
                  <a:latin typeface="Cambria Math" panose="02040503050406030204" pitchFamily="18" charset="0"/>
                  <a:cs typeface="Times New Roman" panose="02020603050405020304" pitchFamily="18" charset="0"/>
                </a:endParaRPr>
              </a:p>
              <a:p>
                <a:pPr lvl="1">
                  <a:lnSpc>
                    <a:spcPct val="120000"/>
                  </a:lnSpc>
                  <a:spcAft>
                    <a:spcPts val="600"/>
                  </a:spcAft>
                </a:pPr>
                <a:r>
                  <a:rPr lang="en-US" altLang="zh-CN" sz="1600" b="1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Key Insight: Higher k 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sz="1600" b="1" i="1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US" altLang="zh-CN" sz="1600" b="1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𝒖</m:t>
                        </m:r>
                      </m:e>
                      <m:sub>
                        <m:r>
                          <a:rPr lang="en-US" altLang="zh-CN" sz="1600" b="1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∗</m:t>
                        </m:r>
                      </m:sub>
                    </m:sSub>
                  </m:oMath>
                </a14:m>
                <a:r>
                  <a:rPr lang="en-US" altLang="zh-CN" sz="1600" b="1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lead to shorter </a:t>
                </a:r>
                <a14:m>
                  <m:oMath xmlns:m="http://schemas.openxmlformats.org/officeDocument/2006/math">
                    <m:r>
                      <a:rPr lang="en-US" altLang="zh-CN" sz="1600" b="1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𝝉</m:t>
                    </m:r>
                  </m:oMath>
                </a14:m>
                <a:r>
                  <a:rPr lang="en-US" altLang="zh-CN" sz="1600" b="1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but significantly higher total mass flux (</a:t>
                </a:r>
                <a14:m>
                  <m:oMath xmlns:m="http://schemas.openxmlformats.org/officeDocument/2006/math">
                    <m:r>
                      <a:rPr lang="en-US" altLang="zh-CN" sz="1600" b="1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𝑱</m:t>
                    </m:r>
                    <m:r>
                      <a:rPr lang="en-US" altLang="zh-CN" sz="1600" b="1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∝</m:t>
                    </m:r>
                    <m:sSub>
                      <m:sSubPr>
                        <m:ctrlPr>
                          <a:rPr lang="en-US" altLang="zh-CN" sz="1600" b="1" i="1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US" altLang="zh-CN" sz="1600" b="1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𝑫</m:t>
                        </m:r>
                      </m:e>
                      <m:sub>
                        <m:r>
                          <a:rPr lang="en-US" altLang="zh-CN" sz="1600" b="1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𝒆𝒇𝒇</m:t>
                        </m:r>
                      </m:sub>
                    </m:sSub>
                  </m:oMath>
                </a14:m>
                <a:r>
                  <a:rPr lang="en-US" altLang="zh-CN" sz="1600" b="1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) .</a:t>
                </a:r>
              </a:p>
              <a:p>
                <a:pPr marL="514350" indent="-514350">
                  <a:lnSpc>
                    <a:spcPct val="120000"/>
                  </a:lnSpc>
                  <a:spcAft>
                    <a:spcPts val="600"/>
                  </a:spcAft>
                  <a:buAutoNum type="arabicPeriod"/>
                </a:pPr>
                <a:r>
                  <a:rPr lang="en-US" altLang="zh-CN" sz="2000" b="1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Parameter Definitions:</a:t>
                </a:r>
              </a:p>
              <a:p>
                <a:pPr lvl="1">
                  <a:lnSpc>
                    <a:spcPct val="120000"/>
                  </a:lnSpc>
                  <a:spcAft>
                    <a:spcPts val="600"/>
                  </a:spcAft>
                </a:pPr>
                <a14:m>
                  <m:oMath xmlns:m="http://schemas.openxmlformats.org/officeDocument/2006/math">
                    <m:r>
                      <a:rPr lang="en-US" altLang="zh-CN" sz="1600" b="1" i="1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𝜽</m:t>
                    </m:r>
                    <m:r>
                      <a:rPr lang="en-US" altLang="zh-CN" sz="1600" b="1" i="1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 </m:t>
                    </m:r>
                  </m:oMath>
                </a14:m>
                <a:r>
                  <a:rPr lang="en-US" altLang="zh-CN" sz="1600" b="1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: tortuosity.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sz="1600" b="1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US" altLang="zh-CN" sz="1600" b="1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𝒖</m:t>
                        </m:r>
                      </m:e>
                      <m:sub>
                        <m:r>
                          <a:rPr lang="en-US" altLang="zh-CN" sz="1600" b="1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∗</m:t>
                        </m:r>
                      </m:sub>
                    </m:sSub>
                  </m:oMath>
                </a14:m>
                <a:r>
                  <a:rPr lang="en-US" altLang="zh-CN" sz="1600" b="1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: Shear Velocity. Source: Calculated from Slope (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zh-CN" sz="1600" b="1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S</m:t>
                    </m:r>
                  </m:oMath>
                </a14:m>
                <a:r>
                  <a:rPr lang="en-US" altLang="zh-CN" sz="1600" b="1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) and Depth (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zh-CN" sz="1600" b="1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H</m:t>
                    </m:r>
                  </m:oMath>
                </a14:m>
                <a:r>
                  <a:rPr lang="en-US" altLang="zh-CN" sz="1600" b="1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):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sz="1600" b="1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US" altLang="zh-CN" sz="1600" b="1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𝒖</m:t>
                        </m:r>
                      </m:e>
                      <m:sub>
                        <m:r>
                          <a:rPr lang="en-US" altLang="zh-CN" sz="1600" b="1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∗</m:t>
                        </m:r>
                      </m:sub>
                    </m:sSub>
                    <m:r>
                      <a:rPr lang="en-US" altLang="zh-CN" sz="1600" b="1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=</m:t>
                    </m:r>
                    <m:rad>
                      <m:radPr>
                        <m:degHide m:val="on"/>
                        <m:ctrlPr>
                          <a:rPr lang="en-US" altLang="zh-CN" sz="1600" b="1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radPr>
                      <m:deg/>
                      <m:e>
                        <m:r>
                          <a:rPr lang="en-US" altLang="zh-CN" sz="1600" b="1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𝒈𝑯𝑺</m:t>
                        </m:r>
                      </m:e>
                    </m:rad>
                  </m:oMath>
                </a14:m>
                <a:r>
                  <a:rPr lang="en-US" altLang="zh-CN" sz="1600" b="1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. Range: </a:t>
                </a:r>
                <a14:m>
                  <m:oMath xmlns:m="http://schemas.openxmlformats.org/officeDocument/2006/math">
                    <m:r>
                      <a:rPr lang="en-US" altLang="zh-CN" sz="1600" b="1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𝟎</m:t>
                    </m:r>
                    <m:r>
                      <a:rPr lang="en-US" altLang="zh-CN" sz="1600" b="1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.</m:t>
                    </m:r>
                    <m:r>
                      <a:rPr lang="en-US" altLang="zh-CN" sz="1600" b="1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𝟎𝟎𝟓</m:t>
                    </m:r>
                    <m:r>
                      <a:rPr lang="en-US" altLang="zh-CN" sz="1600" b="1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−</m:t>
                    </m:r>
                    <m:r>
                      <a:rPr lang="en-US" altLang="zh-CN" sz="1600" b="1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𝟎</m:t>
                    </m:r>
                    <m:r>
                      <a:rPr lang="en-US" altLang="zh-CN" sz="1600" b="1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.</m:t>
                    </m:r>
                    <m:r>
                      <a:rPr lang="en-US" altLang="zh-CN" sz="1600" b="1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𝟎𝟓</m:t>
                    </m:r>
                    <m:r>
                      <m:rPr>
                        <m:nor/>
                      </m:rPr>
                      <a:rPr lang="en-US" altLang="zh-CN" sz="1600" b="1" i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 </m:t>
                    </m:r>
                    <m:r>
                      <m:rPr>
                        <m:nor/>
                      </m:rPr>
                      <a:rPr lang="en-US" altLang="zh-CN" sz="1600" b="1" i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m</m:t>
                    </m:r>
                    <m:r>
                      <m:rPr>
                        <m:lit/>
                        <m:nor/>
                      </m:rPr>
                      <a:rPr lang="en-US" altLang="zh-CN" sz="1600" b="1" i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/</m:t>
                    </m:r>
                    <m:r>
                      <m:rPr>
                        <m:nor/>
                      </m:rPr>
                      <a:rPr lang="en-US" altLang="zh-CN" sz="1600" b="1" i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s</m:t>
                    </m:r>
                  </m:oMath>
                </a14:m>
                <a:r>
                  <a:rPr lang="en-US" altLang="zh-CN" sz="1600" b="1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.</a:t>
                </a:r>
              </a:p>
              <a:p>
                <a:pPr lvl="1">
                  <a:lnSpc>
                    <a:spcPct val="120000"/>
                  </a:lnSpc>
                  <a:spcAft>
                    <a:spcPts val="600"/>
                  </a:spcAft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sz="1600" b="1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US" altLang="zh-CN" sz="1600" b="1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𝜶</m:t>
                        </m:r>
                      </m:e>
                      <m:sub>
                        <m:r>
                          <a:rPr lang="en-US" altLang="zh-CN" sz="1600" b="1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𝑳</m:t>
                        </m:r>
                      </m:sub>
                    </m:sSub>
                  </m:oMath>
                </a14:m>
                <a:r>
                  <a:rPr lang="en-US" altLang="zh-CN" sz="1600" b="1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: Longitudinal Dispersivity. Source: Literature value for river bedforms. Range: </a:t>
                </a:r>
                <a14:m>
                  <m:oMath xmlns:m="http://schemas.openxmlformats.org/officeDocument/2006/math">
                    <m:r>
                      <a:rPr lang="en-US" altLang="zh-CN" sz="1600" b="1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𝟎</m:t>
                    </m:r>
                    <m:r>
                      <a:rPr lang="en-US" altLang="zh-CN" sz="1600" b="1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.</m:t>
                    </m:r>
                    <m:r>
                      <a:rPr lang="en-US" altLang="zh-CN" sz="1600" b="1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𝟏</m:t>
                    </m:r>
                    <m:r>
                      <a:rPr lang="en-US" altLang="zh-CN" sz="1600" b="1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−</m:t>
                    </m:r>
                    <m:r>
                      <a:rPr lang="en-US" altLang="zh-CN" sz="1600" b="1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𝟏𝟎</m:t>
                    </m:r>
                    <m:r>
                      <m:rPr>
                        <m:nor/>
                      </m:rPr>
                      <a:rPr lang="en-US" altLang="zh-CN" sz="1600" b="1" i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 </m:t>
                    </m:r>
                    <m:r>
                      <m:rPr>
                        <m:nor/>
                      </m:rPr>
                      <a:rPr lang="en-US" altLang="zh-CN" sz="1600" b="1" i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cm</m:t>
                    </m:r>
                  </m:oMath>
                </a14:m>
                <a:r>
                  <a:rPr lang="en-US" altLang="zh-CN" sz="1600" b="1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.</a:t>
                </a:r>
              </a:p>
              <a:p>
                <a:pPr lvl="1">
                  <a:lnSpc>
                    <a:spcPct val="120000"/>
                  </a:lnSpc>
                  <a:spcAft>
                    <a:spcPts val="600"/>
                  </a:spcAft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sz="1600" b="1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US" altLang="zh-CN" sz="1600" b="1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𝑫</m:t>
                        </m:r>
                      </m:e>
                      <m:sub>
                        <m:r>
                          <a:rPr lang="en-US" altLang="zh-CN" sz="1600" b="1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𝒎</m:t>
                        </m:r>
                      </m:sub>
                    </m:sSub>
                  </m:oMath>
                </a14:m>
                <a:r>
                  <a:rPr lang="en-US" altLang="zh-CN" sz="1600" b="1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: Molecular Diffusion. Source: Chemical constant. Typical Range: </a:t>
                </a:r>
                <a14:m>
                  <m:oMath xmlns:m="http://schemas.openxmlformats.org/officeDocument/2006/math">
                    <m:r>
                      <a:rPr lang="en-US" altLang="zh-CN" sz="1600" b="1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≈</m:t>
                    </m:r>
                    <m:r>
                      <a:rPr lang="en-US" altLang="zh-CN" sz="1600" b="1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𝟏</m:t>
                    </m:r>
                    <m:sSup>
                      <m:sSupPr>
                        <m:ctrlPr>
                          <a:rPr lang="en-US" altLang="zh-CN" sz="1600" b="1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pPr>
                      <m:e>
                        <m:r>
                          <a:rPr lang="en-US" altLang="zh-CN" sz="1600" b="1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𝟎</m:t>
                        </m:r>
                      </m:e>
                      <m:sup>
                        <m:r>
                          <a:rPr lang="en-US" altLang="zh-CN" sz="1600" b="1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−</m:t>
                        </m:r>
                        <m:r>
                          <a:rPr lang="en-US" altLang="zh-CN" sz="1600" b="1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𝟗</m:t>
                        </m:r>
                      </m:sup>
                    </m:sSup>
                    <m:r>
                      <m:rPr>
                        <m:nor/>
                      </m:rPr>
                      <a:rPr lang="en-US" altLang="zh-CN" sz="1600" b="1" i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 </m:t>
                    </m:r>
                    <m:sSup>
                      <m:sSupPr>
                        <m:ctrlPr>
                          <a:rPr lang="en-US" altLang="zh-CN" sz="1600" b="1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pPr>
                      <m:e>
                        <m:r>
                          <m:rPr>
                            <m:nor/>
                          </m:rPr>
                          <a:rPr lang="en-US" altLang="zh-CN" sz="1600" b="1" i="0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m</m:t>
                        </m:r>
                      </m:e>
                      <m:sup>
                        <m:r>
                          <a:rPr lang="en-US" altLang="zh-CN" sz="1600" b="1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𝟐</m:t>
                        </m:r>
                      </m:sup>
                    </m:sSup>
                    <m:r>
                      <m:rPr>
                        <m:lit/>
                      </m:rPr>
                      <a:rPr lang="en-US" altLang="zh-CN" sz="1600" b="1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/</m:t>
                    </m:r>
                    <m:r>
                      <m:rPr>
                        <m:nor/>
                      </m:rPr>
                      <a:rPr lang="en-US" altLang="zh-CN" sz="1600" b="1" i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s</m:t>
                    </m:r>
                  </m:oMath>
                </a14:m>
                <a:r>
                  <a:rPr lang="en-US" altLang="zh-CN" sz="1600" b="1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.</a:t>
                </a:r>
                <a:endParaRPr lang="en-US" altLang="zh-CN" sz="1600" b="1" i="1">
                  <a:latin typeface="Cambria Math" panose="02040503050406030204" pitchFamily="18" charset="0"/>
                  <a:cs typeface="Times New Roman" panose="02020603050405020304" pitchFamily="18" charset="0"/>
                </a:endParaRPr>
              </a:p>
              <a:p>
                <a:pPr marL="514350" indent="-514350">
                  <a:lnSpc>
                    <a:spcPct val="120000"/>
                  </a:lnSpc>
                  <a:spcAft>
                    <a:spcPts val="600"/>
                  </a:spcAft>
                  <a:buAutoNum type="arabicPeriod"/>
                </a:pPr>
                <a:r>
                  <a:rPr lang="en-US" altLang="zh-CN" sz="2000" b="1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Implementation Strategy:</a:t>
                </a:r>
              </a:p>
              <a:p>
                <a:pPr lvl="1">
                  <a:lnSpc>
                    <a:spcPct val="120000"/>
                  </a:lnSpc>
                  <a:spcAft>
                    <a:spcPts val="600"/>
                  </a:spcAft>
                </a:pPr>
                <a:r>
                  <a:rPr lang="en-US" altLang="zh-CN" sz="1600" b="1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Current Code: Fixed diffusion coefficient.</a:t>
                </a:r>
              </a:p>
              <a:p>
                <a:pPr lvl="1">
                  <a:lnSpc>
                    <a:spcPct val="120000"/>
                  </a:lnSpc>
                  <a:spcAft>
                    <a:spcPts val="600"/>
                  </a:spcAft>
                </a:pPr>
                <a:r>
                  <a:rPr lang="en-US" altLang="zh-CN" sz="1600" b="1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Proposed: Update </a:t>
                </a:r>
                <a:r>
                  <a:rPr lang="en-US" altLang="zh-CN" sz="1600" b="1" i="1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D</a:t>
                </a:r>
                <a:r>
                  <a:rPr lang="en-US" altLang="zh-CN" sz="1600" b="1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as a function of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sz="1600" b="1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US" altLang="zh-CN" sz="1600" b="1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𝒖</m:t>
                        </m:r>
                      </m:e>
                      <m:sub>
                        <m:r>
                          <a:rPr lang="en-US" altLang="zh-CN" sz="1600" b="1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∗</m:t>
                        </m:r>
                      </m:sub>
                    </m:sSub>
                  </m:oMath>
                </a14:m>
                <a:r>
                  <a:rPr lang="en-US" altLang="zh-CN" sz="1600" b="1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(hydrodynamics) and </a:t>
                </a:r>
                <a14:m>
                  <m:oMath xmlns:m="http://schemas.openxmlformats.org/officeDocument/2006/math">
                    <m:r>
                      <a:rPr lang="en-US" altLang="zh-CN" sz="1600" b="1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𝒌</m:t>
                    </m:r>
                  </m:oMath>
                </a14:m>
                <a:r>
                  <a:rPr lang="en-US" altLang="zh-CN" sz="1600" b="1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(sedimentology).</a:t>
                </a:r>
                <a:endParaRPr lang="en-US" altLang="zh-CN" sz="1600" b="1" i="1">
                  <a:latin typeface="Cambria Math" panose="020405030504060302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195E533-A2CF-C1F6-39FD-7E2516FB377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67966" y="1089498"/>
                <a:ext cx="11251660" cy="5611779"/>
              </a:xfrm>
              <a:blipFill>
                <a:blip r:embed="rId2"/>
                <a:stretch>
                  <a:fillRect l="-434" t="-543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58182690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70B917-681F-F89E-B5BF-8FC754F7A9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723204-1224-9E59-6FCC-4AB2D2F911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56723"/>
            <a:ext cx="8921885" cy="1048628"/>
          </a:xfrm>
        </p:spPr>
        <p:txBody>
          <a:bodyPr>
            <a:normAutofit/>
          </a:bodyPr>
          <a:lstStyle/>
          <a:p>
            <a:r>
              <a:rPr lang="en-US" altLang="zh-CN" sz="4000" b="1"/>
              <a:t>River POM Settling &amp; Flocculation</a:t>
            </a:r>
            <a:endParaRPr lang="zh-CN" altLang="en-US" b="1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522343D-D5F8-B016-8A8E-4BDB647C750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67966" y="1089498"/>
                <a:ext cx="11251660" cy="5611779"/>
              </a:xfrm>
            </p:spPr>
            <p:txBody>
              <a:bodyPr>
                <a:normAutofit fontScale="92500" lnSpcReduction="20000"/>
              </a:bodyPr>
              <a:lstStyle/>
              <a:p>
                <a:pPr marL="514350" indent="-514350">
                  <a:lnSpc>
                    <a:spcPct val="120000"/>
                  </a:lnSpc>
                  <a:spcAft>
                    <a:spcPts val="600"/>
                  </a:spcAft>
                  <a:buAutoNum type="arabicPeriod"/>
                </a:pPr>
                <a:r>
                  <a:rPr lang="en-US" altLang="zh-CN" sz="2000" b="1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Core Equations: </a:t>
                </a:r>
              </a:p>
              <a:p>
                <a:pPr lvl="1">
                  <a:lnSpc>
                    <a:spcPct val="120000"/>
                  </a:lnSpc>
                  <a:spcAft>
                    <a:spcPts val="600"/>
                  </a:spcAft>
                </a:pPr>
                <a:r>
                  <a:rPr lang="en-US" altLang="zh-CN" sz="1600" b="1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Rouse Number (</a:t>
                </a:r>
                <a14:m>
                  <m:oMath xmlns:m="http://schemas.openxmlformats.org/officeDocument/2006/math">
                    <m:r>
                      <a:rPr lang="en-US" altLang="zh-CN" sz="1600" b="1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𝑷</m:t>
                    </m:r>
                  </m:oMath>
                </a14:m>
                <a:r>
                  <a:rPr lang="en-US" altLang="zh-CN" sz="1600" b="1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): Criteria for suspension vs. deposition. </a:t>
                </a:r>
              </a:p>
              <a:p>
                <a:pPr marL="457200" lvl="1" indent="0" algn="ctr">
                  <a:lnSpc>
                    <a:spcPct val="120000"/>
                  </a:lnSpc>
                  <a:spcAft>
                    <a:spcPts val="600"/>
                  </a:spcAft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600" b="1" i="1" smtClean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𝑷</m:t>
                      </m:r>
                      <m:r>
                        <a:rPr lang="en-US" altLang="zh-CN" sz="1600" b="1" i="1" smtClean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=</m:t>
                      </m:r>
                      <m:f>
                        <m:fPr>
                          <m:ctrlPr>
                            <a:rPr lang="en-US" altLang="zh-CN" sz="1600" b="1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altLang="zh-CN" sz="1600" b="1" i="1" smtClean="0"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sz="1600" b="1" i="1" smtClean="0"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𝒘</m:t>
                              </m:r>
                            </m:e>
                            <m:sub>
                              <m:r>
                                <a:rPr lang="en-US" altLang="zh-CN" sz="1600" b="1" i="1" smtClean="0"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𝒔</m:t>
                              </m:r>
                            </m:sub>
                          </m:sSub>
                        </m:num>
                        <m:den>
                          <m:r>
                            <a:rPr lang="en-US" altLang="zh-CN" sz="1600" b="1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𝜿</m:t>
                          </m:r>
                          <m:sSub>
                            <m:sSubPr>
                              <m:ctrlPr>
                                <a:rPr lang="en-US" altLang="zh-CN" sz="1600" b="1" i="1" smtClean="0"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sz="1600" b="1" i="1" smtClean="0"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𝒖</m:t>
                              </m:r>
                            </m:e>
                            <m:sub>
                              <m:r>
                                <a:rPr lang="en-US" altLang="zh-CN" sz="1600" b="1" i="1" smtClean="0"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∗</m:t>
                              </m:r>
                            </m:sub>
                          </m:sSub>
                        </m:den>
                      </m:f>
                      <m:r>
                        <a:rPr lang="en-US" altLang="zh-CN" sz="1600" b="1" i="1" smtClean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 </m:t>
                      </m:r>
                      <m:r>
                        <m:rPr>
                          <m:nor/>
                        </m:rPr>
                        <a:rPr lang="en-US" altLang="zh-CN" sz="1600" b="1" i="0" smtClean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(</m:t>
                      </m:r>
                      <m:r>
                        <m:rPr>
                          <m:nor/>
                        </m:rPr>
                        <a:rPr lang="en-US" altLang="zh-CN" sz="1600" b="1" i="0" smtClean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Lamb</m:t>
                      </m:r>
                      <m:r>
                        <m:rPr>
                          <m:nor/>
                        </m:rPr>
                        <a:rPr lang="en-US" altLang="zh-CN" sz="1600" b="1" i="0" smtClean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 </m:t>
                      </m:r>
                      <m:r>
                        <m:rPr>
                          <m:nor/>
                        </m:rPr>
                        <a:rPr lang="en-US" altLang="zh-CN" sz="1600" b="1" i="0" smtClean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et</m:t>
                      </m:r>
                      <m:r>
                        <m:rPr>
                          <m:nor/>
                        </m:rPr>
                        <a:rPr lang="en-US" altLang="zh-CN" sz="1600" b="1" i="0" smtClean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 </m:t>
                      </m:r>
                      <m:r>
                        <m:rPr>
                          <m:nor/>
                        </m:rPr>
                        <a:rPr lang="en-US" altLang="zh-CN" sz="1600" b="1" i="0" smtClean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al</m:t>
                      </m:r>
                      <m:r>
                        <m:rPr>
                          <m:nor/>
                        </m:rPr>
                        <a:rPr lang="en-US" altLang="zh-CN" sz="1600" b="1" i="0" smtClean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., 2020)</m:t>
                      </m:r>
                    </m:oMath>
                  </m:oMathPara>
                </a14:m>
                <a:endParaRPr lang="en-US" altLang="zh-CN" sz="1600" b="1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marL="457200" lvl="1" indent="0" algn="ctr">
                  <a:lnSpc>
                    <a:spcPct val="120000"/>
                  </a:lnSpc>
                  <a:spcAft>
                    <a:spcPts val="600"/>
                  </a:spcAft>
                  <a:buNone/>
                </a:pPr>
                <a:r>
                  <a:rPr lang="en-US" altLang="zh-CN" sz="1600" b="1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Threshold: If </a:t>
                </a:r>
                <a14:m>
                  <m:oMath xmlns:m="http://schemas.openxmlformats.org/officeDocument/2006/math">
                    <m:r>
                      <a:rPr lang="en-US" altLang="zh-CN" sz="1600" b="1" i="1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𝑷</m:t>
                    </m:r>
                    <m:r>
                      <a:rPr lang="en-US" altLang="zh-CN" sz="1600" b="1" i="1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 &lt; </m:t>
                    </m:r>
                    <m:r>
                      <a:rPr lang="en-US" altLang="zh-CN" sz="1600" b="1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𝟏</m:t>
                    </m:r>
                  </m:oMath>
                </a14:m>
                <a:r>
                  <a:rPr lang="en-US" altLang="zh-CN" sz="1600" b="1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, organic matter is fully suspended; </a:t>
                </a:r>
                <a14:m>
                  <m:oMath xmlns:m="http://schemas.openxmlformats.org/officeDocument/2006/math">
                    <m:r>
                      <a:rPr lang="en-US" altLang="zh-CN" sz="1600" b="1" i="1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𝑭𝒍𝒖</m:t>
                    </m:r>
                    <m:sSub>
                      <m:sSubPr>
                        <m:ctrlPr>
                          <a:rPr lang="en-US" altLang="zh-CN" sz="1600" b="1" i="1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US" altLang="zh-CN" sz="1600" b="1" i="1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𝒙</m:t>
                        </m:r>
                      </m:e>
                      <m:sub>
                        <m:r>
                          <a:rPr lang="en-US" altLang="zh-CN" sz="1600" b="1" i="1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𝒊𝒏</m:t>
                        </m:r>
                      </m:sub>
                    </m:sSub>
                    <m:r>
                      <a:rPr lang="en-US" altLang="zh-CN" sz="1600" b="1" i="1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≈</m:t>
                    </m:r>
                    <m:r>
                      <a:rPr lang="en-US" altLang="zh-CN" sz="1600" b="1" i="1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𝟎</m:t>
                    </m:r>
                  </m:oMath>
                </a14:m>
                <a:r>
                  <a:rPr lang="en-US" altLang="zh-CN" sz="1600" b="1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.</a:t>
                </a:r>
              </a:p>
              <a:p>
                <a:pPr lvl="1">
                  <a:lnSpc>
                    <a:spcPct val="120000"/>
                  </a:lnSpc>
                  <a:spcAft>
                    <a:spcPts val="600"/>
                  </a:spcAft>
                </a:pPr>
                <a:r>
                  <a:rPr lang="en-US" altLang="zh-CN" sz="1600" b="1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Effective Deposition: Scouring occurs when bed shear stress 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sz="1600" b="1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US" altLang="zh-CN" sz="1600" b="1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𝝉</m:t>
                        </m:r>
                      </m:e>
                      <m:sub>
                        <m:r>
                          <a:rPr lang="en-US" altLang="zh-CN" sz="1600" b="1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𝒃</m:t>
                        </m:r>
                      </m:sub>
                    </m:sSub>
                  </m:oMath>
                </a14:m>
                <a:r>
                  <a:rPr lang="en-US" altLang="zh-CN" sz="1600" b="1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) exceeds critical stress 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sz="1600" b="1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US" altLang="zh-CN" sz="1600" b="1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𝝉</m:t>
                        </m:r>
                      </m:e>
                      <m:sub>
                        <m:r>
                          <a:rPr lang="en-US" altLang="zh-CN" sz="1600" b="1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𝒄</m:t>
                        </m:r>
                      </m:sub>
                    </m:sSub>
                  </m:oMath>
                </a14:m>
                <a:r>
                  <a:rPr lang="en-US" altLang="zh-CN" sz="1600" b="1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).</a:t>
                </a:r>
              </a:p>
              <a:p>
                <a:pPr marL="457200" lvl="1" indent="0" algn="ctr">
                  <a:lnSpc>
                    <a:spcPct val="120000"/>
                  </a:lnSpc>
                  <a:spcAft>
                    <a:spcPts val="600"/>
                  </a:spcAft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sz="1600" b="1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US" altLang="zh-CN" sz="1600" b="1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𝒘</m:t>
                        </m:r>
                      </m:e>
                      <m:sub>
                        <m:r>
                          <a:rPr lang="en-US" altLang="zh-CN" sz="1600" b="1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𝒔</m:t>
                        </m:r>
                        <m:r>
                          <a:rPr lang="en-US" altLang="zh-CN" sz="1600" b="1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,</m:t>
                        </m:r>
                        <m:r>
                          <a:rPr lang="en-US" altLang="zh-CN" sz="1600" b="1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𝒆𝒇𝒇</m:t>
                        </m:r>
                      </m:sub>
                    </m:sSub>
                    <m:r>
                      <a:rPr lang="en-US" altLang="zh-CN" sz="1600" b="1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=</m:t>
                    </m:r>
                    <m:sSub>
                      <m:sSubPr>
                        <m:ctrlPr>
                          <a:rPr lang="en-US" altLang="zh-CN" sz="1600" b="1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US" altLang="zh-CN" sz="1600" b="1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𝒘</m:t>
                        </m:r>
                      </m:e>
                      <m:sub>
                        <m:r>
                          <a:rPr lang="en-US" altLang="zh-CN" sz="1600" b="1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𝒔</m:t>
                        </m:r>
                      </m:sub>
                    </m:sSub>
                    <m:d>
                      <m:dPr>
                        <m:ctrlPr>
                          <a:rPr lang="en-US" altLang="zh-CN" sz="1600" b="1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dPr>
                      <m:e>
                        <m:r>
                          <a:rPr lang="en-US" altLang="zh-CN" sz="1600" b="1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𝟏</m:t>
                        </m:r>
                        <m:r>
                          <a:rPr lang="en-US" altLang="zh-CN" sz="1600" b="1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−</m:t>
                        </m:r>
                        <m:f>
                          <m:fPr>
                            <m:ctrlPr>
                              <a:rPr lang="en-US" altLang="zh-CN" sz="1600" b="1" i="1" smtClean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fPr>
                          <m:num>
                            <m:sSub>
                              <m:sSubPr>
                                <m:ctrlPr>
                                  <a:rPr lang="en-US" altLang="zh-CN" sz="1600" b="1" i="1" smtClean="0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CN" sz="1600" b="1" i="1" smtClean="0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𝝉</m:t>
                                </m:r>
                              </m:e>
                              <m:sub>
                                <m:r>
                                  <a:rPr lang="en-US" altLang="zh-CN" sz="1600" b="1" i="1" smtClean="0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𝒃</m:t>
                                </m:r>
                              </m:sub>
                            </m:sSub>
                          </m:num>
                          <m:den>
                            <m:sSub>
                              <m:sSubPr>
                                <m:ctrlPr>
                                  <a:rPr lang="en-US" altLang="zh-CN" sz="1600" b="1" i="1" smtClean="0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CN" sz="1600" b="1" i="1" smtClean="0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𝝉</m:t>
                                </m:r>
                              </m:e>
                              <m:sub>
                                <m:r>
                                  <a:rPr lang="en-US" altLang="zh-CN" sz="1600" b="1" i="1" smtClean="0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𝒄</m:t>
                                </m:r>
                              </m:sub>
                            </m:sSub>
                          </m:den>
                        </m:f>
                      </m:e>
                    </m:d>
                    <m:r>
                      <a:rPr lang="en-US" altLang="zh-CN" sz="1600" b="1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 </m:t>
                    </m:r>
                    <m:r>
                      <m:rPr>
                        <m:nor/>
                      </m:rPr>
                      <a:rPr lang="en-US" altLang="zh-CN" sz="1600" b="1" i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(</m:t>
                    </m:r>
                    <m:r>
                      <m:rPr>
                        <m:nor/>
                      </m:rPr>
                      <a:rPr lang="en-US" altLang="zh-CN" sz="1600" b="1" i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Winterwerp</m:t>
                    </m:r>
                    <m:r>
                      <m:rPr>
                        <m:nor/>
                      </m:rPr>
                      <a:rPr lang="en-US" altLang="zh-CN" sz="1600" b="1" i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, 1998; </m:t>
                    </m:r>
                    <m:r>
                      <m:rPr>
                        <m:nor/>
                      </m:rPr>
                      <a:rPr lang="en-US" altLang="zh-CN" sz="1600" b="1" i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Lamb</m:t>
                    </m:r>
                    <m:r>
                      <m:rPr>
                        <m:nor/>
                      </m:rPr>
                      <a:rPr lang="en-US" altLang="zh-CN" sz="1600" b="1" i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 </m:t>
                    </m:r>
                    <m:r>
                      <m:rPr>
                        <m:nor/>
                      </m:rPr>
                      <a:rPr lang="en-US" altLang="zh-CN" sz="1600" b="1" i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et</m:t>
                    </m:r>
                    <m:r>
                      <m:rPr>
                        <m:nor/>
                      </m:rPr>
                      <a:rPr lang="en-US" altLang="zh-CN" sz="1600" b="1" i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 </m:t>
                    </m:r>
                    <m:r>
                      <m:rPr>
                        <m:nor/>
                      </m:rPr>
                      <a:rPr lang="en-US" altLang="zh-CN" sz="1600" b="1" i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al</m:t>
                    </m:r>
                    <m:r>
                      <m:rPr>
                        <m:nor/>
                      </m:rPr>
                      <a:rPr lang="en-US" altLang="zh-CN" sz="1600" b="1" i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., 2020)</m:t>
                    </m:r>
                  </m:oMath>
                </a14:m>
                <a:r>
                  <a:rPr lang="en-US" altLang="zh-CN" sz="1600" b="1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.</a:t>
                </a:r>
              </a:p>
              <a:p>
                <a:pPr marL="514350" indent="-514350">
                  <a:lnSpc>
                    <a:spcPct val="120000"/>
                  </a:lnSpc>
                  <a:spcAft>
                    <a:spcPts val="600"/>
                  </a:spcAft>
                  <a:buAutoNum type="arabicPeriod"/>
                </a:pPr>
                <a:r>
                  <a:rPr lang="en-US" altLang="zh-CN" sz="2000" b="1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Parameter Definitions:</a:t>
                </a:r>
              </a:p>
              <a:p>
                <a:pPr lvl="1">
                  <a:lnSpc>
                    <a:spcPct val="120000"/>
                  </a:lnSpc>
                  <a:spcAft>
                    <a:spcPts val="600"/>
                  </a:spcAft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sz="1600" b="1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US" altLang="zh-CN" sz="1600" b="1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𝒘</m:t>
                        </m:r>
                      </m:e>
                      <m:sub>
                        <m:r>
                          <a:rPr lang="en-US" altLang="zh-CN" sz="1600" b="1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𝒔</m:t>
                        </m:r>
                      </m:sub>
                    </m:sSub>
                  </m:oMath>
                </a14:m>
                <a:r>
                  <a:rPr lang="en-US" altLang="zh-CN" sz="1600" b="1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: Characteristic Settling Velocity. Value: 0.34 mm/s (Lamb et al., 2020).</a:t>
                </a:r>
                <a:r>
                  <a:rPr lang="sv-SE" altLang="zh-CN" sz="1600" b="1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lang="sv-SE" altLang="zh-CN" sz="1600" b="1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𝜿</m:t>
                    </m:r>
                  </m:oMath>
                </a14:m>
                <a:r>
                  <a:rPr lang="sv-SE" altLang="zh-CN" sz="1600" b="1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: von Karman constant. Value: 0.41 (Dimensionless)</a:t>
                </a:r>
                <a:endParaRPr lang="en-US" altLang="zh-CN" sz="1600" b="1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lvl="1">
                  <a:lnSpc>
                    <a:spcPct val="120000"/>
                  </a:lnSpc>
                  <a:spcAft>
                    <a:spcPts val="600"/>
                  </a:spcAft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sz="1600" b="1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US" altLang="zh-CN" sz="1600" b="1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𝝉</m:t>
                        </m:r>
                      </m:e>
                      <m:sub>
                        <m:r>
                          <a:rPr lang="en-US" altLang="zh-CN" sz="1600" b="1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𝒃</m:t>
                        </m:r>
                      </m:sub>
                    </m:sSub>
                  </m:oMath>
                </a14:m>
                <a:r>
                  <a:rPr lang="en-US" altLang="zh-CN" sz="1600" b="1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: Bed Shear Stress. Source: Calculated as </a:t>
                </a:r>
                <a14:m>
                  <m:oMath xmlns:m="http://schemas.openxmlformats.org/officeDocument/2006/math">
                    <m:r>
                      <a:rPr lang="en-US" altLang="zh-CN" sz="1600" b="1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𝝆</m:t>
                    </m:r>
                    <m:sSubSup>
                      <m:sSubSupPr>
                        <m:ctrlPr>
                          <a:rPr lang="en-US" altLang="zh-CN" sz="1600" b="1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SupPr>
                      <m:e>
                        <m:r>
                          <a:rPr lang="en-US" altLang="zh-CN" sz="1600" b="1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𝒖</m:t>
                        </m:r>
                      </m:e>
                      <m:sub>
                        <m:r>
                          <a:rPr lang="en-US" altLang="zh-CN" sz="1600" b="1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∗</m:t>
                        </m:r>
                      </m:sub>
                      <m:sup>
                        <m:r>
                          <a:rPr lang="en-US" altLang="zh-CN" sz="1600" b="1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𝟐</m:t>
                        </m:r>
                      </m:sup>
                    </m:sSubSup>
                  </m:oMath>
                </a14:m>
                <a:r>
                  <a:rPr lang="en-US" altLang="zh-CN" sz="1600" b="1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. Range: </a:t>
                </a:r>
                <a14:m>
                  <m:oMath xmlns:m="http://schemas.openxmlformats.org/officeDocument/2006/math">
                    <m:r>
                      <a:rPr lang="en-US" altLang="zh-CN" sz="1600" b="1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𝟎</m:t>
                    </m:r>
                    <m:r>
                      <a:rPr lang="en-US" altLang="zh-CN" sz="1600" b="1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.</m:t>
                    </m:r>
                    <m:r>
                      <a:rPr lang="en-US" altLang="zh-CN" sz="1600" b="1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𝟎𝟏</m:t>
                    </m:r>
                    <m:r>
                      <a:rPr lang="en-US" altLang="zh-CN" sz="1600" b="1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−</m:t>
                    </m:r>
                    <m:r>
                      <a:rPr lang="en-US" altLang="zh-CN" sz="1600" b="1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𝟏</m:t>
                    </m:r>
                    <m:r>
                      <a:rPr lang="en-US" altLang="zh-CN" sz="1600" b="1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.</m:t>
                    </m:r>
                    <m:r>
                      <a:rPr lang="en-US" altLang="zh-CN" sz="1600" b="1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𝟎</m:t>
                    </m:r>
                    <m:r>
                      <m:rPr>
                        <m:nor/>
                      </m:rPr>
                      <a:rPr lang="en-US" altLang="zh-CN" sz="1600" b="1" i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 </m:t>
                    </m:r>
                    <m:sSup>
                      <m:sSupPr>
                        <m:ctrlPr>
                          <a:rPr lang="en-US" altLang="zh-CN" sz="1600" b="1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pPr>
                      <m:e>
                        <m:r>
                          <m:rPr>
                            <m:nor/>
                          </m:rPr>
                          <a:rPr lang="en-US" altLang="zh-CN" sz="1600" b="1" i="0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N</m:t>
                        </m:r>
                        <m:r>
                          <m:rPr>
                            <m:lit/>
                            <m:nor/>
                          </m:rPr>
                          <a:rPr lang="en-US" altLang="zh-CN" sz="1600" b="1" i="0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/</m:t>
                        </m:r>
                        <m:r>
                          <m:rPr>
                            <m:nor/>
                          </m:rPr>
                          <a:rPr lang="en-US" altLang="zh-CN" sz="1600" b="1" i="0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m</m:t>
                        </m:r>
                      </m:e>
                      <m:sup>
                        <m:r>
                          <a:rPr lang="en-US" altLang="zh-CN" sz="1600" b="1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𝟐</m:t>
                        </m:r>
                      </m:sup>
                    </m:sSup>
                  </m:oMath>
                </a14:m>
                <a:r>
                  <a:rPr lang="en-US" altLang="zh-CN" sz="1600" b="1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.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sz="1600" b="1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US" altLang="zh-CN" sz="1600" b="1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𝝉</m:t>
                        </m:r>
                      </m:e>
                      <m:sub>
                        <m:r>
                          <a:rPr lang="en-US" altLang="zh-CN" sz="1600" b="1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𝒄</m:t>
                        </m:r>
                      </m:sub>
                    </m:sSub>
                  </m:oMath>
                </a14:m>
                <a:r>
                  <a:rPr lang="en-US" altLang="zh-CN" sz="1600" b="1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: Critical Shear Stress. Source: Literature for organic flocs. Range: </a:t>
                </a:r>
                <a14:m>
                  <m:oMath xmlns:m="http://schemas.openxmlformats.org/officeDocument/2006/math">
                    <m:r>
                      <a:rPr lang="en-US" altLang="zh-CN" sz="1600" b="1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𝟎</m:t>
                    </m:r>
                    <m:r>
                      <a:rPr lang="en-US" altLang="zh-CN" sz="1600" b="1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.</m:t>
                    </m:r>
                    <m:r>
                      <a:rPr lang="en-US" altLang="zh-CN" sz="1600" b="1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𝟎𝟓</m:t>
                    </m:r>
                    <m:r>
                      <a:rPr lang="en-US" altLang="zh-CN" sz="1600" b="1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−</m:t>
                    </m:r>
                    <m:r>
                      <a:rPr lang="en-US" altLang="zh-CN" sz="1600" b="1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𝟎</m:t>
                    </m:r>
                    <m:r>
                      <a:rPr lang="en-US" altLang="zh-CN" sz="1600" b="1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.</m:t>
                    </m:r>
                    <m:r>
                      <a:rPr lang="en-US" altLang="zh-CN" sz="1600" b="1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𝟑</m:t>
                    </m:r>
                    <m:r>
                      <m:rPr>
                        <m:nor/>
                      </m:rPr>
                      <a:rPr lang="en-US" altLang="zh-CN" sz="1600" b="1" i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 </m:t>
                    </m:r>
                    <m:sSup>
                      <m:sSupPr>
                        <m:ctrlPr>
                          <a:rPr lang="en-US" altLang="zh-CN" sz="1600" b="1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pPr>
                      <m:e>
                        <m:r>
                          <m:rPr>
                            <m:nor/>
                          </m:rPr>
                          <a:rPr lang="en-US" altLang="zh-CN" sz="1600" b="1" i="0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N</m:t>
                        </m:r>
                        <m:r>
                          <m:rPr>
                            <m:lit/>
                            <m:nor/>
                          </m:rPr>
                          <a:rPr lang="en-US" altLang="zh-CN" sz="1600" b="1" i="0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/</m:t>
                        </m:r>
                        <m:r>
                          <m:rPr>
                            <m:nor/>
                          </m:rPr>
                          <a:rPr lang="en-US" altLang="zh-CN" sz="1600" b="1" i="0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m</m:t>
                        </m:r>
                      </m:e>
                      <m:sup>
                        <m:r>
                          <a:rPr lang="en-US" altLang="zh-CN" sz="1600" b="1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𝟐</m:t>
                        </m:r>
                      </m:sup>
                    </m:sSup>
                  </m:oMath>
                </a14:m>
                <a:r>
                  <a:rPr lang="en-US" altLang="zh-CN" sz="1600" b="1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.</a:t>
                </a:r>
              </a:p>
              <a:p>
                <a:pPr marL="514350" indent="-514350">
                  <a:lnSpc>
                    <a:spcPct val="120000"/>
                  </a:lnSpc>
                  <a:spcAft>
                    <a:spcPts val="600"/>
                  </a:spcAft>
                  <a:buAutoNum type="arabicPeriod"/>
                </a:pPr>
                <a:r>
                  <a:rPr lang="en-US" altLang="zh-CN" sz="2000" b="1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Implementation Strategy:</a:t>
                </a:r>
              </a:p>
              <a:p>
                <a:pPr lvl="1">
                  <a:lnSpc>
                    <a:spcPct val="120000"/>
                  </a:lnSpc>
                  <a:spcAft>
                    <a:spcPts val="600"/>
                  </a:spcAft>
                </a:pPr>
                <a:r>
                  <a:rPr lang="en-US" altLang="zh-CN" sz="1600" b="1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Current Code: Fixed burial rate (</a:t>
                </a:r>
                <a:r>
                  <a:rPr lang="en-US" altLang="zh-CN" sz="160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v_sed</a:t>
                </a:r>
                <a:r>
                  <a:rPr lang="en-US" altLang="zh-CN" sz="1600" b="1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).</a:t>
                </a:r>
              </a:p>
              <a:p>
                <a:pPr lvl="1">
                  <a:lnSpc>
                    <a:spcPct val="120000"/>
                  </a:lnSpc>
                  <a:spcAft>
                    <a:spcPts val="600"/>
                  </a:spcAft>
                </a:pPr>
                <a:r>
                  <a:rPr lang="en-US" altLang="zh-CN" sz="1600" b="1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Proposed: Apply a "Scouring Switch" to the boundary flux; if</a:t>
                </a:r>
                <a14:m>
                  <m:oMath xmlns:m="http://schemas.openxmlformats.org/officeDocument/2006/math">
                    <m:r>
                      <a:rPr lang="en-US" altLang="zh-CN" sz="1600" b="1" i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 </m:t>
                    </m:r>
                    <m:r>
                      <a:rPr lang="zh-CN" altLang="en-US" sz="1600" b="1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𝑷</m:t>
                    </m:r>
                    <m:r>
                      <a:rPr lang="zh-CN" altLang="en-US" sz="1600" b="1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 &lt; </m:t>
                    </m:r>
                    <m:r>
                      <a:rPr lang="zh-CN" altLang="en-US" sz="1600" b="1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𝟏</m:t>
                    </m:r>
                  </m:oMath>
                </a14:m>
                <a:r>
                  <a:rPr lang="en-US" altLang="zh-CN" sz="1600" b="1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(Suspension) or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sz="1600" b="1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US" altLang="zh-CN" sz="1600" b="1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𝝉</m:t>
                        </m:r>
                      </m:e>
                      <m:sub>
                        <m:r>
                          <a:rPr lang="en-US" altLang="zh-CN" sz="1600" b="1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𝒃</m:t>
                        </m:r>
                      </m:sub>
                    </m:sSub>
                    <m:r>
                      <a:rPr lang="en-US" altLang="zh-CN" sz="1600" b="1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&gt;</m:t>
                    </m:r>
                    <m:sSub>
                      <m:sSubPr>
                        <m:ctrlPr>
                          <a:rPr lang="en-US" altLang="zh-CN" sz="1600" b="1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US" altLang="zh-CN" sz="1600" b="1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𝝉</m:t>
                        </m:r>
                      </m:e>
                      <m:sub>
                        <m:r>
                          <a:rPr lang="en-US" altLang="zh-CN" sz="1600" b="1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𝒄</m:t>
                        </m:r>
                      </m:sub>
                    </m:sSub>
                  </m:oMath>
                </a14:m>
                <a:r>
                  <a:rPr lang="en-US" altLang="zh-CN" sz="1600" b="1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(Scouring), organic input </a:t>
                </a:r>
                <a14:m>
                  <m:oMath xmlns:m="http://schemas.openxmlformats.org/officeDocument/2006/math">
                    <m:r>
                      <a:rPr lang="en-US" altLang="zh-CN" sz="1600" b="1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→</m:t>
                    </m:r>
                    <m:r>
                      <a:rPr lang="en-US" altLang="zh-CN" sz="1600" b="1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𝟎</m:t>
                    </m:r>
                  </m:oMath>
                </a14:m>
                <a:r>
                  <a:rPr lang="en-US" altLang="zh-CN" sz="1600" b="1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.</a:t>
                </a:r>
                <a:endParaRPr lang="en-US" altLang="zh-CN" sz="1600" b="1" i="1">
                  <a:latin typeface="Cambria Math" panose="020405030504060302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522343D-D5F8-B016-8A8E-4BDB647C750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67966" y="1089498"/>
                <a:ext cx="11251660" cy="5611779"/>
              </a:xfrm>
              <a:blipFill>
                <a:blip r:embed="rId3"/>
                <a:stretch>
                  <a:fillRect l="-434" t="-543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59671520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0F560C-2B0E-3DFC-BF77-3023A08466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688068-C4D5-07FE-3256-257C2FD8E6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56723"/>
            <a:ext cx="8921885" cy="1048628"/>
          </a:xfrm>
        </p:spPr>
        <p:txBody>
          <a:bodyPr>
            <a:normAutofit/>
          </a:bodyPr>
          <a:lstStyle/>
          <a:p>
            <a:r>
              <a:rPr lang="en-US" altLang="zh-CN" sz="4000" b="1"/>
              <a:t>Reference</a:t>
            </a:r>
            <a:endParaRPr lang="zh-CN" altLang="en-US" b="1"/>
          </a:p>
        </p:txBody>
      </p:sp>
      <p:sp>
        <p:nvSpPr>
          <p:cNvPr id="12" name="Rectangle 7">
            <a:extLst>
              <a:ext uri="{FF2B5EF4-FFF2-40B4-BE49-F238E27FC236}">
                <a16:creationId xmlns:a16="http://schemas.microsoft.com/office/drawing/2014/main" id="{1E05DDDA-AD6F-94F0-8E08-6E5CE9D88758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800894" y="1792140"/>
            <a:ext cx="10590211" cy="360720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R="0" lvl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+mj-lt"/>
              <a:buAutoNum type="arabicPeriod"/>
              <a:tabLst/>
            </a:pPr>
            <a:r>
              <a:rPr kumimoji="0" lang="zh-CN" altLang="zh-CN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Grant, S. B. </a:t>
            </a:r>
            <a:r>
              <a:rPr kumimoji="0" lang="zh-CN" altLang="zh-CN" sz="1400" b="0" i="1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et al.</a:t>
            </a:r>
            <a:r>
              <a:rPr kumimoji="0" lang="zh-CN" altLang="zh-CN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Effective diffusivity and mass flux across the sediment-water interface in streams. Water Resour. Res. </a:t>
            </a:r>
            <a:r>
              <a:rPr kumimoji="0" lang="zh-CN" altLang="zh-CN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48</a:t>
            </a:r>
            <a:r>
              <a:rPr kumimoji="0" lang="zh-CN" altLang="zh-CN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, W05548 (2012) .</a:t>
            </a:r>
          </a:p>
          <a:p>
            <a:pPr marR="0" lvl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+mj-lt"/>
              <a:buAutoNum type="arabicPeriod"/>
              <a:tabLst/>
            </a:pPr>
            <a:r>
              <a:rPr kumimoji="0" lang="zh-CN" altLang="zh-CN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Boano, F. </a:t>
            </a:r>
            <a:r>
              <a:rPr kumimoji="0" lang="zh-CN" altLang="zh-CN" sz="1400" b="0" i="1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et al.</a:t>
            </a:r>
            <a:r>
              <a:rPr kumimoji="0" lang="zh-CN" altLang="zh-CN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Hyporheic flow and transport processes: Mechanisms, models, and ecosystems. Rev. Geophys. </a:t>
            </a:r>
            <a:r>
              <a:rPr kumimoji="0" lang="zh-CN" altLang="zh-CN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52</a:t>
            </a:r>
            <a:r>
              <a:rPr kumimoji="0" lang="zh-CN" altLang="zh-CN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, 603–679 (2014) .</a:t>
            </a:r>
          </a:p>
          <a:p>
            <a:pPr marR="0" lvl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+mj-lt"/>
              <a:buAutoNum type="arabicPeriod"/>
              <a:tabLst/>
            </a:pPr>
            <a:r>
              <a:rPr kumimoji="0" lang="zh-CN" altLang="zh-CN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Boudreau, B. P. </a:t>
            </a:r>
            <a:r>
              <a:rPr kumimoji="0" lang="zh-CN" altLang="zh-CN" sz="1400" b="0" i="1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Diagenetic Models and Their Implementation</a:t>
            </a:r>
            <a:r>
              <a:rPr kumimoji="0" lang="zh-CN" altLang="zh-CN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. (Springer, 1997) .</a:t>
            </a:r>
          </a:p>
          <a:p>
            <a:pPr marR="0" lvl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+mj-lt"/>
              <a:buAutoNum type="arabicPeriod"/>
              <a:tabLst/>
            </a:pPr>
            <a:r>
              <a:rPr kumimoji="0" lang="zh-CN" altLang="zh-CN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Lamb, M. P. </a:t>
            </a:r>
            <a:r>
              <a:rPr kumimoji="0" lang="zh-CN" altLang="zh-CN" sz="1400" b="0" i="1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et al.</a:t>
            </a:r>
            <a:r>
              <a:rPr kumimoji="0" lang="zh-CN" altLang="zh-CN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Mud in rivers transported as flocculated and suspended bed material. </a:t>
            </a:r>
            <a:r>
              <a:rPr kumimoji="0" lang="zh-CN" altLang="zh-CN" sz="1400" b="0" i="1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Nature Geosci.</a:t>
            </a:r>
            <a:r>
              <a:rPr kumimoji="0" lang="zh-CN" altLang="zh-CN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zh-CN" altLang="zh-CN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13</a:t>
            </a:r>
            <a:r>
              <a:rPr kumimoji="0" lang="zh-CN" altLang="zh-CN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, 566–570 (2020).</a:t>
            </a:r>
          </a:p>
          <a:p>
            <a:pPr marR="0" lvl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+mj-lt"/>
              <a:buAutoNum type="arabicPeriod"/>
              <a:tabLst/>
            </a:pPr>
            <a:r>
              <a:rPr kumimoji="0" lang="zh-CN" altLang="zh-CN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Winterwerp, J. C. A simple model for turbulence-induced flocculation of cohesive sediment. J. Hydraul. Eng. </a:t>
            </a:r>
            <a:r>
              <a:rPr kumimoji="0" lang="zh-CN" altLang="zh-CN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124</a:t>
            </a:r>
            <a:r>
              <a:rPr kumimoji="0" lang="zh-CN" altLang="zh-CN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, 430–436 (1998).</a:t>
            </a:r>
          </a:p>
          <a:p>
            <a:pPr marR="0" lvl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+mj-lt"/>
              <a:buAutoNum type="arabicPeriod"/>
              <a:tabLst/>
            </a:pPr>
            <a:r>
              <a:rPr kumimoji="0" lang="zh-CN" altLang="zh-CN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Cardenas, M. B., Wilson, J. L. &amp; Zlotnik, V. A. Impact of river bedform-induced hyporheic flow on long-term residence time distributions. Water Resour. Res. </a:t>
            </a:r>
            <a:r>
              <a:rPr kumimoji="0" lang="zh-CN" altLang="zh-CN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40</a:t>
            </a:r>
            <a:r>
              <a:rPr kumimoji="0" lang="zh-CN" altLang="zh-CN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, W08403 (2004) .</a:t>
            </a:r>
          </a:p>
          <a:p>
            <a:pPr marR="0" lvl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+mj-lt"/>
              <a:buAutoNum type="arabicPeriod"/>
              <a:tabLst/>
            </a:pPr>
            <a:r>
              <a:rPr kumimoji="0" lang="zh-CN" altLang="zh-CN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Bear, J. </a:t>
            </a:r>
            <a:r>
              <a:rPr kumimoji="0" lang="zh-CN" altLang="zh-CN" sz="1400" b="0" i="1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Dynamics of Fluids in Porous Media</a:t>
            </a:r>
            <a:r>
              <a:rPr kumimoji="0" lang="zh-CN" altLang="zh-CN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. (Dover Publications, 1972) .</a:t>
            </a:r>
          </a:p>
          <a:p>
            <a:pPr marR="0" lvl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+mj-lt"/>
              <a:buAutoNum type="arabicPeriod"/>
              <a:tabLst/>
            </a:pPr>
            <a:r>
              <a:rPr kumimoji="0" lang="zh-CN" altLang="zh-CN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Carman, P. C. </a:t>
            </a:r>
            <a:r>
              <a:rPr kumimoji="0" lang="zh-CN" altLang="zh-CN" sz="1400" b="0" i="1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Flow of Gases Through Porous Media</a:t>
            </a:r>
            <a:r>
              <a:rPr kumimoji="0" lang="zh-CN" altLang="zh-CN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. (Butterworths Scientific Publications, 1956) .</a:t>
            </a:r>
          </a:p>
        </p:txBody>
      </p:sp>
    </p:spTree>
    <p:extLst>
      <p:ext uri="{BB962C8B-B14F-4D97-AF65-F5344CB8AC3E}">
        <p14:creationId xmlns:p14="http://schemas.microsoft.com/office/powerpoint/2010/main" val="168348210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DE78F3-0023-F14E-4007-02C4C481B1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53EC90-4FC8-5EC4-5466-5B908F6819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56723"/>
            <a:ext cx="8921885" cy="1048628"/>
          </a:xfrm>
        </p:spPr>
        <p:txBody>
          <a:bodyPr>
            <a:normAutofit fontScale="90000"/>
          </a:bodyPr>
          <a:lstStyle/>
          <a:p>
            <a:r>
              <a:rPr lang="en-US" altLang="zh-CN" sz="4000" b="1" dirty="0"/>
              <a:t>Multiple Grain Size and Porosity Modeling</a:t>
            </a:r>
            <a:endParaRPr lang="zh-CN" altLang="en-US" b="1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8EECCD7-DC23-81CD-8BA5-A425C93A600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67966" y="1089498"/>
                <a:ext cx="11251660" cy="5611779"/>
              </a:xfrm>
            </p:spPr>
            <p:txBody>
              <a:bodyPr>
                <a:normAutofit/>
              </a:bodyPr>
              <a:lstStyle/>
              <a:p>
                <a:pPr marL="514350" indent="-514350">
                  <a:lnSpc>
                    <a:spcPct val="120000"/>
                  </a:lnSpc>
                  <a:spcAft>
                    <a:spcPts val="600"/>
                  </a:spcAft>
                  <a:buAutoNum type="arabicPeriod"/>
                </a:pPr>
                <a:r>
                  <a:rPr lang="en-US" altLang="zh-CN" sz="2000" b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Core Equations: </a:t>
                </a:r>
              </a:p>
              <a:p>
                <a:pPr lvl="1">
                  <a:lnSpc>
                    <a:spcPct val="120000"/>
                  </a:lnSpc>
                  <a:spcAft>
                    <a:spcPts val="600"/>
                  </a:spcAft>
                </a:pPr>
                <a:r>
                  <a:rPr lang="en-US" altLang="zh-CN" sz="1600" b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The Unified Packing Model predicts porosity dynamically based on volumetric fractions.</a:t>
                </a:r>
              </a:p>
              <a:p>
                <a:pPr marL="457200" lvl="1" indent="0" algn="ctr">
                  <a:lnSpc>
                    <a:spcPct val="120000"/>
                  </a:lnSpc>
                  <a:spcAft>
                    <a:spcPts val="600"/>
                  </a:spcAft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zh-CN" altLang="en-US" sz="1600" b="1" i="1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zh-CN" altLang="en-US" sz="1600" b="1" i="1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𝝓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CN" sz="1600" b="1" i="1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mix</m:t>
                        </m:r>
                      </m:sub>
                    </m:sSub>
                    <m:r>
                      <a:rPr lang="en-US" altLang="zh-CN" sz="1600" b="1" i="1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=</m:t>
                    </m:r>
                    <m:d>
                      <m:dPr>
                        <m:begChr m:val="{"/>
                        <m:endChr m:val=""/>
                        <m:ctrlPr>
                          <a:rPr lang="en-US" altLang="zh-CN" sz="1600" b="1" i="1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dPr>
                      <m:e>
                        <m:eqArr>
                          <m:eqArrPr>
                            <m:ctrlPr>
                              <a:rPr lang="en-US" altLang="zh-CN" sz="1600" b="1" i="1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eqArrPr>
                          <m:e>
                            <m:sSub>
                              <m:sSubPr>
                                <m:ctrlPr>
                                  <a:rPr lang="en-US" altLang="zh-CN" sz="1600" b="1" i="1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CN" sz="1600" b="1" i="1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𝝓</m:t>
                                </m:r>
                              </m:e>
                              <m:sub>
                                <m:r>
                                  <a:rPr lang="en-US" altLang="zh-CN" sz="1600" b="1" i="1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𝒄</m:t>
                                </m:r>
                              </m:sub>
                            </m:sSub>
                            <m:r>
                              <a:rPr lang="en-US" altLang="zh-CN" sz="1600" b="1" i="1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−</m:t>
                            </m:r>
                            <m:sSub>
                              <m:sSubPr>
                                <m:ctrlPr>
                                  <a:rPr lang="en-US" altLang="zh-CN" sz="1600" b="1" i="1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CN" sz="1600" b="1" i="1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𝑿</m:t>
                                </m:r>
                              </m:e>
                              <m:sub>
                                <m:r>
                                  <a:rPr lang="en-US" altLang="zh-CN" sz="1600" b="1" i="1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𝒇</m:t>
                                </m:r>
                              </m:sub>
                            </m:sSub>
                            <m:d>
                              <m:dPr>
                                <m:ctrlPr>
                                  <a:rPr lang="en-US" altLang="zh-CN" sz="1600" b="1" i="1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altLang="zh-CN" sz="1600" b="1" i="1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𝟏</m:t>
                                </m:r>
                                <m:r>
                                  <a:rPr lang="en-US" altLang="zh-CN" sz="1600" b="1" i="1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−</m:t>
                                </m:r>
                                <m:sSub>
                                  <m:sSubPr>
                                    <m:ctrlPr>
                                      <a:rPr lang="en-US" altLang="zh-CN" sz="1600" b="1" i="1"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1600" b="1" i="1"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𝝓</m:t>
                                    </m:r>
                                  </m:e>
                                  <m:sub>
                                    <m:r>
                                      <a:rPr lang="en-US" altLang="zh-CN" sz="1600" b="1" i="1"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𝒇</m:t>
                                    </m:r>
                                  </m:sub>
                                </m:sSub>
                              </m:e>
                            </m:d>
                            <m:r>
                              <a:rPr lang="en-US" altLang="zh-CN" sz="1600" b="1" i="1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, &amp; </m:t>
                            </m:r>
                            <m:r>
                              <a:rPr lang="en-US" altLang="zh-CN" sz="1600" b="1" i="1" smtClean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          </m:t>
                            </m:r>
                            <m:r>
                              <a:rPr lang="en-US" altLang="zh-CN" sz="1600" b="1" i="1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𝒊𝒇</m:t>
                            </m:r>
                            <m:r>
                              <a:rPr lang="en-US" altLang="zh-CN" sz="1600" b="1" i="1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 </m:t>
                            </m:r>
                            <m:sSub>
                              <m:sSubPr>
                                <m:ctrlPr>
                                  <a:rPr lang="en-US" altLang="zh-CN" sz="1600" b="1" i="1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CN" sz="1600" b="1" i="1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𝑿</m:t>
                                </m:r>
                              </m:e>
                              <m:sub>
                                <m:r>
                                  <a:rPr lang="en-US" altLang="zh-CN" sz="1600" b="1" i="1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𝒇</m:t>
                                </m:r>
                              </m:sub>
                            </m:sSub>
                            <m:r>
                              <a:rPr lang="en-US" altLang="zh-CN" sz="1600" b="1" i="1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&lt;</m:t>
                            </m:r>
                            <m:sSub>
                              <m:sSubPr>
                                <m:ctrlPr>
                                  <a:rPr lang="en-US" altLang="zh-CN" sz="1600" b="1" i="1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CN" sz="1600" b="1" i="1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𝝓</m:t>
                                </m:r>
                              </m:e>
                              <m:sub>
                                <m:r>
                                  <a:rPr lang="en-US" altLang="zh-CN" sz="1600" b="1" i="1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𝒄</m:t>
                                </m:r>
                              </m:sub>
                            </m:sSub>
                            <m:r>
                              <a:rPr lang="en-US" altLang="zh-CN" sz="1600" b="1" i="1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 (</m:t>
                            </m:r>
                            <m:r>
                              <a:rPr lang="en-US" altLang="zh-CN" sz="1600" b="1" i="1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𝑪𝒐𝒂𝒓𝒔𝒆</m:t>
                            </m:r>
                            <m:r>
                              <a:rPr lang="en-US" altLang="zh-CN" sz="1600" b="1" i="1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 </m:t>
                            </m:r>
                            <m:r>
                              <a:rPr lang="en-US" altLang="zh-CN" sz="1600" b="1" i="1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𝑷𝒂𝒄𝒌𝒊𝒏𝒈</m:t>
                            </m:r>
                            <m:r>
                              <a:rPr lang="en-US" altLang="zh-CN" sz="1600" b="1" i="1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)</m:t>
                            </m:r>
                          </m:e>
                          <m:e>
                            <m:sSub>
                              <m:sSubPr>
                                <m:ctrlPr>
                                  <a:rPr lang="en-US" altLang="zh-CN" sz="1600" b="1" i="1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CN" sz="1600" b="1" i="1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𝑿</m:t>
                                </m:r>
                              </m:e>
                              <m:sub>
                                <m:r>
                                  <a:rPr lang="en-US" altLang="zh-CN" sz="1600" b="1" i="1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𝒇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lang="en-US" altLang="zh-CN" sz="1600" b="1" i="1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CN" sz="1600" b="1" i="1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𝝓</m:t>
                                </m:r>
                              </m:e>
                              <m:sub>
                                <m:r>
                                  <a:rPr lang="en-US" altLang="zh-CN" sz="1600" b="1" i="1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𝒇</m:t>
                                </m:r>
                              </m:sub>
                            </m:sSub>
                            <m:r>
                              <a:rPr lang="en-US" altLang="zh-CN" sz="1600" b="1" i="1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, &amp; </m:t>
                            </m:r>
                            <m:r>
                              <a:rPr lang="en-US" altLang="zh-CN" sz="1600" b="1" i="1" smtClean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         </m:t>
                            </m:r>
                            <m:r>
                              <a:rPr lang="en-US" altLang="zh-CN" sz="1600" b="1" i="1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𝒊𝒇</m:t>
                            </m:r>
                            <m:r>
                              <a:rPr lang="en-US" altLang="zh-CN" sz="1600" b="1" i="1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 </m:t>
                            </m:r>
                            <m:sSub>
                              <m:sSubPr>
                                <m:ctrlPr>
                                  <a:rPr lang="en-US" altLang="zh-CN" sz="1600" b="1" i="1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CN" sz="1600" b="1" i="1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𝑿</m:t>
                                </m:r>
                              </m:e>
                              <m:sub>
                                <m:r>
                                  <a:rPr lang="en-US" altLang="zh-CN" sz="1600" b="1" i="1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𝒇</m:t>
                                </m:r>
                              </m:sub>
                            </m:sSub>
                            <m:r>
                              <a:rPr lang="en-US" altLang="zh-CN" sz="1600" b="1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≥</m:t>
                            </m:r>
                            <m:sSub>
                              <m:sSubPr>
                                <m:ctrlPr>
                                  <a:rPr lang="en-US" altLang="zh-CN" sz="1600" b="1" i="1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CN" sz="1600" b="1" i="1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𝝓</m:t>
                                </m:r>
                              </m:e>
                              <m:sub>
                                <m:r>
                                  <a:rPr lang="en-US" altLang="zh-CN" sz="1600" b="1" i="1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𝒄</m:t>
                                </m:r>
                              </m:sub>
                            </m:sSub>
                            <m:r>
                              <a:rPr lang="en-US" altLang="zh-CN" sz="1600" b="1" i="1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 (</m:t>
                            </m:r>
                            <m:r>
                              <a:rPr lang="en-US" altLang="zh-CN" sz="1600" b="1" i="1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𝑭𝒊𝒏𝒆</m:t>
                            </m:r>
                            <m:r>
                              <a:rPr lang="en-US" altLang="zh-CN" sz="1600" b="1" i="1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 </m:t>
                            </m:r>
                            <m:r>
                              <a:rPr lang="en-US" altLang="zh-CN" sz="1600" b="1" i="1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𝑷𝒂𝒄𝒌𝒊𝒏𝒈</m:t>
                            </m:r>
                            <m:r>
                              <a:rPr lang="en-US" altLang="zh-CN" sz="1600" b="1" i="1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)</m:t>
                            </m:r>
                          </m:e>
                        </m:eqArr>
                      </m:e>
                    </m:d>
                  </m:oMath>
                </a14:m>
                <a:r>
                  <a:rPr lang="en-US" altLang="zh-CN" sz="1600" b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      (El-Husseiny, A., 2021)</a:t>
                </a:r>
                <a:r>
                  <a:rPr lang="en-US" altLang="zh-CN" sz="1400" b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</a:p>
              <a:p>
                <a:pPr marL="514350" indent="-514350">
                  <a:lnSpc>
                    <a:spcPct val="120000"/>
                  </a:lnSpc>
                  <a:spcAft>
                    <a:spcPts val="600"/>
                  </a:spcAft>
                  <a:buAutoNum type="arabicPeriod"/>
                </a:pPr>
                <a:r>
                  <a:rPr lang="en-US" altLang="zh-CN" sz="2000" b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Parameter Definitions:</a:t>
                </a:r>
                <a:endParaRPr lang="en-US" altLang="zh-CN" sz="2000" b="1" i="1" dirty="0">
                  <a:latin typeface="Cambria Math" panose="02040503050406030204" pitchFamily="18" charset="0"/>
                  <a:cs typeface="Times New Roman" panose="02020603050405020304" pitchFamily="18" charset="0"/>
                </a:endParaRPr>
              </a:p>
              <a:p>
                <a:pPr lvl="1">
                  <a:lnSpc>
                    <a:spcPct val="120000"/>
                  </a:lnSpc>
                  <a:spcAft>
                    <a:spcPts val="600"/>
                  </a:spcAft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sz="1600" b="1" i="1" dirty="0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US" altLang="zh-CN" sz="1600" b="1" i="1" dirty="0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𝝓</m:t>
                        </m:r>
                      </m:e>
                      <m:sub>
                        <m:r>
                          <a:rPr lang="en-US" altLang="zh-CN" sz="1600" b="1" i="1" dirty="0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𝒎𝒊𝒙</m:t>
                        </m:r>
                      </m:sub>
                    </m:sSub>
                  </m:oMath>
                </a14:m>
                <a:r>
                  <a:rPr lang="en-US" altLang="zh-CN" sz="1600" b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: Calculated porosity of the sediment mixture.</a:t>
                </a:r>
              </a:p>
              <a:p>
                <a:pPr lvl="1">
                  <a:lnSpc>
                    <a:spcPct val="120000"/>
                  </a:lnSpc>
                  <a:spcAft>
                    <a:spcPts val="600"/>
                  </a:spcAft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sz="1600" b="1" i="1" dirty="0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US" altLang="zh-CN" sz="1600" b="1" i="1" dirty="0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𝝓</m:t>
                        </m:r>
                      </m:e>
                      <m:sub>
                        <m:r>
                          <a:rPr lang="en-US" altLang="zh-CN" sz="1600" b="1" i="1" dirty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𝒄</m:t>
                        </m:r>
                      </m:sub>
                    </m:sSub>
                  </m:oMath>
                </a14:m>
                <a:r>
                  <a:rPr lang="en-US" altLang="zh-CN" sz="1600" b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: Porosity of the pure coarse gravel framework.</a:t>
                </a:r>
              </a:p>
              <a:p>
                <a:pPr lvl="1">
                  <a:lnSpc>
                    <a:spcPct val="120000"/>
                  </a:lnSpc>
                  <a:spcAft>
                    <a:spcPts val="600"/>
                  </a:spcAft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sz="1600" b="1" i="1" dirty="0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US" altLang="zh-CN" sz="1600" b="1" i="1" dirty="0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𝝓</m:t>
                        </m:r>
                      </m:e>
                      <m:sub>
                        <m:r>
                          <a:rPr lang="en-US" altLang="zh-CN" sz="1600" b="1" i="1" dirty="0" err="1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𝒇</m:t>
                        </m:r>
                      </m:sub>
                    </m:sSub>
                  </m:oMath>
                </a14:m>
                <a:r>
                  <a:rPr lang="en-US" altLang="zh-CN" sz="1600" b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: Porosity of the pure fine sediment.</a:t>
                </a:r>
              </a:p>
              <a:p>
                <a:pPr lvl="1">
                  <a:lnSpc>
                    <a:spcPct val="120000"/>
                  </a:lnSpc>
                  <a:spcAft>
                    <a:spcPts val="600"/>
                  </a:spcAft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sz="1600" b="1" i="1" dirty="0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US" altLang="zh-CN" sz="1600" b="1" i="1" dirty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𝑿</m:t>
                        </m:r>
                      </m:e>
                      <m:sub>
                        <m:r>
                          <a:rPr lang="en-US" altLang="zh-CN" sz="1600" b="1" i="1" dirty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𝒇</m:t>
                        </m:r>
                      </m:sub>
                    </m:sSub>
                  </m:oMath>
                </a14:m>
                <a:r>
                  <a:rPr lang="en-US" altLang="zh-CN" sz="1600" b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: Volumetric fraction of fine grains.</a:t>
                </a:r>
              </a:p>
              <a:p>
                <a:pPr marL="514350" indent="-514350">
                  <a:lnSpc>
                    <a:spcPct val="120000"/>
                  </a:lnSpc>
                  <a:spcAft>
                    <a:spcPts val="600"/>
                  </a:spcAft>
                  <a:buAutoNum type="arabicPeriod"/>
                </a:pPr>
                <a:r>
                  <a:rPr lang="en-US" altLang="zh-CN" sz="2000" b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Implementation Strategy:</a:t>
                </a:r>
              </a:p>
              <a:p>
                <a:pPr lvl="1">
                  <a:lnSpc>
                    <a:spcPct val="120000"/>
                  </a:lnSpc>
                  <a:spcAft>
                    <a:spcPts val="600"/>
                  </a:spcAft>
                </a:pPr>
                <a:r>
                  <a:rPr lang="en-US" altLang="zh-CN" sz="1600" b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Proposed: Define a threshold (e.g., 2 mm) to partition the sediment mixture, using the median grain size of each fraction to automate the initialization of baseline </a:t>
                </a:r>
                <a14:m>
                  <m:oMath xmlns:m="http://schemas.openxmlformats.org/officeDocument/2006/math">
                    <m:r>
                      <a:rPr lang="en-US" altLang="zh-CN" sz="1600" b="1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𝝓</m:t>
                    </m:r>
                  </m:oMath>
                </a14:m>
                <a:r>
                  <a:rPr lang="en-US" altLang="zh-CN" sz="1600" b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.</a:t>
                </a:r>
                <a:endParaRPr lang="en-US" altLang="zh-CN" sz="1600" b="1" i="1" dirty="0">
                  <a:latin typeface="Cambria Math" panose="020405030504060302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8EECCD7-DC23-81CD-8BA5-A425C93A600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67966" y="1089498"/>
                <a:ext cx="11251660" cy="5611779"/>
              </a:xfrm>
              <a:blipFill>
                <a:blip r:embed="rId2"/>
                <a:stretch>
                  <a:fillRect l="-488" t="-109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68664565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663EFD-7041-B05A-1DFF-81330A1978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A2E7B5-05E6-5162-E480-9FA3B76936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56723"/>
            <a:ext cx="8921885" cy="1048628"/>
          </a:xfrm>
        </p:spPr>
        <p:txBody>
          <a:bodyPr>
            <a:normAutofit/>
          </a:bodyPr>
          <a:lstStyle/>
          <a:p>
            <a:r>
              <a:rPr lang="en-US" altLang="zh-CN" sz="4000" b="1"/>
              <a:t>Reference</a:t>
            </a:r>
            <a:endParaRPr lang="zh-CN" altLang="en-US" b="1"/>
          </a:p>
        </p:txBody>
      </p:sp>
      <p:sp>
        <p:nvSpPr>
          <p:cNvPr id="12" name="Rectangle 7">
            <a:extLst>
              <a:ext uri="{FF2B5EF4-FFF2-40B4-BE49-F238E27FC236}">
                <a16:creationId xmlns:a16="http://schemas.microsoft.com/office/drawing/2014/main" id="{CE9AB97B-B644-9A38-4BC4-3BB87917200D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800894" y="2678569"/>
            <a:ext cx="10590211" cy="183434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342900" indent="-342900">
              <a:buFont typeface="+mj-lt"/>
              <a:buAutoNum type="arabicPeriod"/>
            </a:pPr>
            <a:r>
              <a:rPr lang="en-US" altLang="zh-CN" sz="1400" dirty="0"/>
              <a:t>El-</a:t>
            </a:r>
            <a:r>
              <a:rPr lang="en-US" altLang="zh-CN" sz="1400" dirty="0" err="1"/>
              <a:t>Husseiny</a:t>
            </a:r>
            <a:r>
              <a:rPr lang="en-US" altLang="zh-CN" sz="1400" dirty="0"/>
              <a:t>, A. Unified packing model for improved prediction of porosity and hydraulic conductivity of binary mixed soils. </a:t>
            </a:r>
            <a:r>
              <a:rPr lang="en-US" altLang="zh-CN" sz="1400" i="1" dirty="0"/>
              <a:t>Water</a:t>
            </a:r>
            <a:r>
              <a:rPr lang="en-US" altLang="zh-CN" sz="1400" dirty="0"/>
              <a:t> </a:t>
            </a:r>
            <a:r>
              <a:rPr lang="en-US" altLang="zh-CN" sz="1400" b="1" dirty="0"/>
              <a:t>13</a:t>
            </a:r>
            <a:r>
              <a:rPr lang="en-US" altLang="zh-CN" sz="1400" dirty="0"/>
              <a:t>, 455 (2021). </a:t>
            </a:r>
          </a:p>
          <a:p>
            <a:pPr marL="342900" indent="-342900">
              <a:buFont typeface="+mj-lt"/>
              <a:buAutoNum type="arabicPeriod"/>
            </a:pPr>
            <a:r>
              <a:rPr lang="en-US" altLang="zh-CN" sz="1400" dirty="0"/>
              <a:t>Uchida, T., Kawahara, Y., Hayashi, Y. &amp; Tateishi, A. Eulerian deposition model for sediment mixture in gravel-bed rivers with broad particle size distributions. </a:t>
            </a:r>
            <a:r>
              <a:rPr lang="en-US" altLang="zh-CN" sz="1400" i="1" dirty="0"/>
              <a:t>J. </a:t>
            </a:r>
            <a:r>
              <a:rPr lang="en-US" altLang="zh-CN" sz="1400" i="1" dirty="0" err="1"/>
              <a:t>Hydraul</a:t>
            </a:r>
            <a:r>
              <a:rPr lang="en-US" altLang="zh-CN" sz="1400" i="1" dirty="0"/>
              <a:t>. Eng.</a:t>
            </a:r>
            <a:r>
              <a:rPr lang="en-US" altLang="zh-CN" sz="1400" dirty="0"/>
              <a:t> </a:t>
            </a:r>
            <a:r>
              <a:rPr lang="en-US" altLang="zh-CN" sz="1400" b="1" dirty="0"/>
              <a:t>146</a:t>
            </a:r>
            <a:r>
              <a:rPr lang="en-US" altLang="zh-CN" sz="1400" dirty="0"/>
              <a:t>, 04020071 (2020). </a:t>
            </a:r>
          </a:p>
          <a:p>
            <a:pPr marL="342900" indent="-342900">
              <a:buFont typeface="+mj-lt"/>
              <a:buAutoNum type="arabicPeriod"/>
            </a:pPr>
            <a:r>
              <a:rPr lang="en-US" altLang="zh-CN" sz="1400" dirty="0"/>
              <a:t>Bui, V. H., Bui, M. D. &amp; </a:t>
            </a:r>
            <a:r>
              <a:rPr lang="en-US" altLang="zh-CN" sz="1400" dirty="0" err="1"/>
              <a:t>Rutschmann</a:t>
            </a:r>
            <a:r>
              <a:rPr lang="en-US" altLang="zh-CN" sz="1400" dirty="0"/>
              <a:t>, P. Advanced numerical modeling of sediment transport in gravel-bed rivers. </a:t>
            </a:r>
            <a:r>
              <a:rPr lang="en-US" altLang="zh-CN" sz="1400" i="1" dirty="0"/>
              <a:t>Water</a:t>
            </a:r>
            <a:r>
              <a:rPr lang="en-US" altLang="zh-CN" sz="1400" dirty="0"/>
              <a:t> </a:t>
            </a:r>
            <a:r>
              <a:rPr lang="en-US" altLang="zh-CN" sz="1400" b="1" dirty="0"/>
              <a:t>11</a:t>
            </a:r>
            <a:r>
              <a:rPr lang="en-US" altLang="zh-CN" sz="1400" dirty="0"/>
              <a:t>, 550 (2019).</a:t>
            </a:r>
          </a:p>
          <a:p>
            <a:pPr marL="342900" indent="-342900">
              <a:buFont typeface="+mj-lt"/>
              <a:buAutoNum type="arabicPeriod"/>
            </a:pPr>
            <a:endParaRPr lang="en-US" altLang="zh-CN" sz="1400" dirty="0">
              <a:effectLst/>
            </a:endParaRPr>
          </a:p>
        </p:txBody>
      </p:sp>
    </p:spTree>
    <p:extLst>
      <p:ext uri="{BB962C8B-B14F-4D97-AF65-F5344CB8AC3E}">
        <p14:creationId xmlns:p14="http://schemas.microsoft.com/office/powerpoint/2010/main" val="118658744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AE62FF-54DF-F3F6-164F-8CFD8C7DA9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CCC6C0-DAD6-4D9A-76A8-6247C7A65E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56723"/>
            <a:ext cx="8921885" cy="1048628"/>
          </a:xfrm>
        </p:spPr>
        <p:txBody>
          <a:bodyPr>
            <a:normAutofit/>
          </a:bodyPr>
          <a:lstStyle/>
          <a:p>
            <a:r>
              <a:rPr lang="en-US" altLang="zh-CN" sz="4000" b="1" dirty="0"/>
              <a:t>Parameter change for river env</a:t>
            </a:r>
            <a:endParaRPr lang="zh-CN" altLang="en-US" b="1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F6E96788-1A76-3C22-16BD-9C1D5EA365E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87085"/>
            <a:ext cx="10515600" cy="4351338"/>
          </a:xfrm>
        </p:spPr>
        <p:txBody>
          <a:bodyPr>
            <a:normAutofit fontScale="92500" lnSpcReduction="10000"/>
          </a:bodyPr>
          <a:lstStyle/>
          <a:p>
            <a:r>
              <a:rPr lang="en-US" altLang="zh-CN" sz="2400" dirty="0"/>
              <a:t>P = 1; </a:t>
            </a:r>
          </a:p>
          <a:p>
            <a:pPr lvl="1"/>
            <a:r>
              <a:rPr lang="en-US" altLang="zh-CN" sz="2000" dirty="0"/>
              <a:t>previous 500; % pressure at depth [atm]</a:t>
            </a:r>
          </a:p>
          <a:p>
            <a:r>
              <a:rPr lang="en-US" altLang="zh-CN" sz="2400" dirty="0"/>
              <a:t>S = 0.1; </a:t>
            </a:r>
          </a:p>
          <a:p>
            <a:pPr lvl="1"/>
            <a:r>
              <a:rPr lang="en-US" altLang="zh-CN" sz="2000" dirty="0"/>
              <a:t>previous 35; % salinity [ppt]</a:t>
            </a:r>
          </a:p>
          <a:p>
            <a:r>
              <a:rPr lang="en-US" altLang="zh-CN" sz="2400" dirty="0"/>
              <a:t>F_CaCO3 = 10; </a:t>
            </a:r>
          </a:p>
          <a:p>
            <a:pPr lvl="1"/>
            <a:r>
              <a:rPr lang="en-US" altLang="zh-CN" sz="2000" dirty="0"/>
              <a:t>previous 2000; %100; %10;%500; % Flux of CaCO3 to sediment gram/m2/year</a:t>
            </a:r>
            <a:endParaRPr lang="it-IT" altLang="zh-CN" sz="2000" dirty="0"/>
          </a:p>
          <a:p>
            <a:r>
              <a:rPr lang="en-US" altLang="zh-CN" sz="2400" dirty="0"/>
              <a:t>SO4init = 2000; </a:t>
            </a:r>
          </a:p>
          <a:p>
            <a:pPr lvl="1"/>
            <a:r>
              <a:rPr lang="en-US" altLang="zh-CN" sz="2000" dirty="0"/>
              <a:t>previous 28000; % </a:t>
            </a:r>
            <a:r>
              <a:rPr lang="en-US" altLang="zh-CN" sz="2000" dirty="0" err="1"/>
              <a:t>uM</a:t>
            </a:r>
            <a:r>
              <a:rPr lang="en-US" altLang="zh-CN" sz="2000" dirty="0"/>
              <a:t> - SO4 concentration at SWI</a:t>
            </a:r>
            <a:endParaRPr lang="it-IT" altLang="zh-CN" sz="2000" dirty="0"/>
          </a:p>
          <a:p>
            <a:r>
              <a:rPr lang="it-IT" altLang="zh-CN" sz="2400" dirty="0"/>
              <a:t>k_calcite = 1E-2;</a:t>
            </a:r>
          </a:p>
          <a:p>
            <a:pPr lvl="1"/>
            <a:r>
              <a:rPr lang="it-IT" altLang="zh-CN" sz="2000" dirty="0"/>
              <a:t>previous 1000; %umol/l/year</a:t>
            </a:r>
          </a:p>
          <a:p>
            <a:r>
              <a:rPr lang="it-IT" altLang="zh-CN" sz="2400" dirty="0"/>
              <a:t>Calcium = 1000; </a:t>
            </a:r>
          </a:p>
          <a:p>
            <a:pPr lvl="1"/>
            <a:r>
              <a:rPr lang="en-US" altLang="zh-CN" sz="2000" dirty="0"/>
              <a:t>previous</a:t>
            </a:r>
            <a:r>
              <a:rPr lang="it-IT" altLang="zh-CN" sz="2000" dirty="0"/>
              <a:t> 10000; % calcium concentration [</a:t>
            </a:r>
            <a:r>
              <a:rPr lang="en-US" altLang="zh-CN" sz="2000" dirty="0" err="1"/>
              <a:t>uM</a:t>
            </a:r>
            <a:r>
              <a:rPr lang="en-US" altLang="zh-CN" sz="2000" dirty="0"/>
              <a:t>?</a:t>
            </a:r>
            <a:r>
              <a:rPr lang="it-IT" altLang="zh-CN" sz="2000" dirty="0"/>
              <a:t>]</a:t>
            </a:r>
          </a:p>
          <a:p>
            <a:pPr lvl="1"/>
            <a:endParaRPr lang="it-IT" altLang="zh-CN" dirty="0"/>
          </a:p>
          <a:p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132822459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926247-B2D6-A8A6-3CE0-956FFF3C4F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E742C1-2091-237B-224E-067BFD72D6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56723"/>
            <a:ext cx="8921885" cy="1048628"/>
          </a:xfrm>
        </p:spPr>
        <p:txBody>
          <a:bodyPr>
            <a:normAutofit/>
          </a:bodyPr>
          <a:lstStyle/>
          <a:p>
            <a:r>
              <a:rPr lang="en-US" altLang="zh-CN" sz="4000" b="1" dirty="0"/>
              <a:t>Bug and debug </a:t>
            </a:r>
            <a:endParaRPr lang="zh-CN" altLang="en-US" b="1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12F9AF87-3542-C428-3A5E-01CD81C7EC1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69806" y="282962"/>
            <a:ext cx="7471841" cy="3146038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014DE431-18D1-FEDC-62BA-190368A6D6C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2971" y="3224915"/>
            <a:ext cx="8059275" cy="25054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6241738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9524B9-8080-5792-D9F6-8135C589B3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FDB2A3-6D30-56C9-3E01-6B70F95B0D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1507" y="156723"/>
            <a:ext cx="9378462" cy="1103508"/>
          </a:xfrm>
        </p:spPr>
        <p:txBody>
          <a:bodyPr>
            <a:normAutofit fontScale="90000"/>
          </a:bodyPr>
          <a:lstStyle/>
          <a:p>
            <a:r>
              <a:rPr lang="en-US" altLang="zh-CN" sz="4000" b="1" dirty="0"/>
              <a:t>Different Scenarios under Coupled Model</a:t>
            </a:r>
            <a:br>
              <a:rPr lang="en-US" altLang="zh-CN" sz="4000" b="1" dirty="0"/>
            </a:br>
            <a:r>
              <a:rPr lang="en-US" altLang="zh-CN" sz="4000" b="1" dirty="0"/>
              <a:t>- </a:t>
            </a:r>
            <a:r>
              <a:rPr lang="en-US" altLang="zh-CN" sz="4000" b="1" dirty="0">
                <a:solidFill>
                  <a:srgbClr val="FF0000"/>
                </a:solidFill>
              </a:rPr>
              <a:t>Methane Hotspot</a:t>
            </a:r>
            <a:endParaRPr lang="zh-CN" altLang="en-US" b="1" dirty="0">
              <a:solidFill>
                <a:srgbClr val="FF0000"/>
              </a:solidFill>
            </a:endParaRP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AC76EAF2-62E5-36C3-D374-10E0B8816A1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39969" y="1530239"/>
            <a:ext cx="10515600" cy="4351338"/>
          </a:xfrm>
        </p:spPr>
        <p:txBody>
          <a:bodyPr>
            <a:normAutofit/>
          </a:bodyPr>
          <a:lstStyle/>
          <a:p>
            <a:r>
              <a:rPr lang="en-US" altLang="zh-CN" sz="2400" dirty="0"/>
              <a:t>T=30; </a:t>
            </a:r>
          </a:p>
          <a:p>
            <a:pPr lvl="1"/>
            <a:r>
              <a:rPr lang="en-US" altLang="zh-CN" sz="2000" dirty="0"/>
              <a:t>degree </a:t>
            </a:r>
            <a:r>
              <a:rPr lang="en-US" altLang="zh-CN" sz="2000" dirty="0" err="1"/>
              <a:t>C;Summer</a:t>
            </a:r>
            <a:r>
              <a:rPr lang="en-US" altLang="zh-CN" sz="2000" dirty="0"/>
              <a:t> </a:t>
            </a:r>
          </a:p>
          <a:p>
            <a:r>
              <a:rPr lang="en-US" altLang="zh-CN" sz="2400" dirty="0"/>
              <a:t>O2init=50;</a:t>
            </a:r>
          </a:p>
          <a:p>
            <a:pPr lvl="1"/>
            <a:r>
              <a:rPr lang="en-US" altLang="zh-CN" sz="2000" dirty="0" err="1"/>
              <a:t>uM</a:t>
            </a:r>
            <a:r>
              <a:rPr lang="en-US" altLang="zh-CN" sz="2000" dirty="0"/>
              <a:t>; Anoxic </a:t>
            </a:r>
          </a:p>
          <a:p>
            <a:r>
              <a:rPr lang="en-US" altLang="zh-CN" sz="2400" dirty="0"/>
              <a:t>SO4init = 200;</a:t>
            </a:r>
          </a:p>
          <a:p>
            <a:pPr lvl="1"/>
            <a:r>
              <a:rPr lang="en-US" altLang="zh-CN" sz="2000" dirty="0" err="1"/>
              <a:t>uM</a:t>
            </a:r>
            <a:r>
              <a:rPr lang="en-US" altLang="zh-CN" sz="2000" dirty="0"/>
              <a:t>; Freshwater</a:t>
            </a:r>
          </a:p>
          <a:p>
            <a:r>
              <a:rPr lang="en-US" altLang="zh-CN" sz="2400" dirty="0"/>
              <a:t>NPP = 800;</a:t>
            </a:r>
          </a:p>
          <a:p>
            <a:pPr lvl="1"/>
            <a:r>
              <a:rPr lang="en-US" altLang="zh-CN" sz="2000" dirty="0"/>
              <a:t>g/m2/yr; High OC</a:t>
            </a:r>
          </a:p>
          <a:p>
            <a:r>
              <a:rPr lang="en-US" altLang="zh-CN" sz="2400" dirty="0" err="1"/>
              <a:t>Vbottom</a:t>
            </a:r>
            <a:r>
              <a:rPr lang="en-US" altLang="zh-CN" sz="2400" dirty="0"/>
              <a:t>=1;</a:t>
            </a:r>
          </a:p>
          <a:p>
            <a:pPr lvl="1"/>
            <a:r>
              <a:rPr lang="en-US" altLang="zh-CN" sz="2000" dirty="0"/>
              <a:t>cm/yr; Backwater</a:t>
            </a:r>
            <a:endParaRPr lang="it-IT" altLang="zh-CN" sz="2000" dirty="0"/>
          </a:p>
          <a:p>
            <a:pPr lvl="1"/>
            <a:endParaRPr lang="it-IT" altLang="zh-CN" dirty="0"/>
          </a:p>
          <a:p>
            <a:endParaRPr lang="zh-CN" altLang="en-US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0AAD5A28-5F61-D772-6C8A-D99B5B6E7697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3294"/>
          <a:stretch>
            <a:fillRect/>
          </a:stretch>
        </p:blipFill>
        <p:spPr>
          <a:xfrm>
            <a:off x="3792851" y="1260231"/>
            <a:ext cx="8354081" cy="5597769"/>
          </a:xfrm>
          <a:prstGeom prst="rect">
            <a:avLst/>
          </a:prstGeom>
        </p:spPr>
      </p:pic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82F431C0-5E56-8496-E053-4FD8F7CC015F}"/>
              </a:ext>
            </a:extLst>
          </p:cNvPr>
          <p:cNvSpPr/>
          <p:nvPr/>
        </p:nvSpPr>
        <p:spPr>
          <a:xfrm>
            <a:off x="5343443" y="1348154"/>
            <a:ext cx="6848557" cy="1776046"/>
          </a:xfrm>
          <a:prstGeom prst="roundRect">
            <a:avLst/>
          </a:prstGeom>
          <a:noFill/>
          <a:ln w="28575" cap="flat" cmpd="sng" algn="ctr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14131807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C080AA-30C4-6D79-9484-0802C20E31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5BD55C-7659-6EDB-592E-6B0E06BAE5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1507" y="156723"/>
            <a:ext cx="9378462" cy="1103508"/>
          </a:xfrm>
        </p:spPr>
        <p:txBody>
          <a:bodyPr>
            <a:normAutofit fontScale="90000"/>
          </a:bodyPr>
          <a:lstStyle/>
          <a:p>
            <a:r>
              <a:rPr lang="en-US" altLang="zh-CN" sz="4000" b="1" dirty="0"/>
              <a:t>Different Scenarios under Coupled Model</a:t>
            </a:r>
            <a:br>
              <a:rPr lang="en-US" altLang="zh-CN" sz="4000" b="1" dirty="0"/>
            </a:br>
            <a:r>
              <a:rPr lang="en-US" altLang="zh-CN" sz="4000" b="1" dirty="0"/>
              <a:t>- </a:t>
            </a:r>
            <a:r>
              <a:rPr lang="en-US" altLang="zh-CN" sz="4000" b="1" dirty="0">
                <a:solidFill>
                  <a:srgbClr val="FF0000"/>
                </a:solidFill>
              </a:rPr>
              <a:t>Spring Mountainous</a:t>
            </a:r>
            <a:endParaRPr lang="zh-CN" altLang="en-US" b="1" dirty="0">
              <a:solidFill>
                <a:srgbClr val="FF0000"/>
              </a:solidFill>
            </a:endParaRP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F0BFEA70-22B2-0B67-9728-5E0D4BE0FC6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63061" y="1569500"/>
            <a:ext cx="10515600" cy="4351338"/>
          </a:xfrm>
        </p:spPr>
        <p:txBody>
          <a:bodyPr>
            <a:normAutofit lnSpcReduction="10000"/>
          </a:bodyPr>
          <a:lstStyle/>
          <a:p>
            <a:endParaRPr lang="en-US" altLang="zh-CN" sz="2400" dirty="0"/>
          </a:p>
          <a:p>
            <a:r>
              <a:rPr lang="en-US" altLang="zh-CN" sz="2400" dirty="0"/>
              <a:t>T=5; </a:t>
            </a:r>
          </a:p>
          <a:p>
            <a:pPr lvl="1"/>
            <a:r>
              <a:rPr lang="en-US" altLang="zh-CN" sz="2000" dirty="0"/>
              <a:t>Early Spring </a:t>
            </a:r>
          </a:p>
          <a:p>
            <a:r>
              <a:rPr lang="en-US" altLang="zh-CN" sz="2400" dirty="0"/>
              <a:t>O2init=350;</a:t>
            </a:r>
          </a:p>
          <a:p>
            <a:pPr lvl="1"/>
            <a:r>
              <a:rPr lang="en-US" altLang="zh-CN" sz="2000" dirty="0" err="1"/>
              <a:t>uM</a:t>
            </a:r>
            <a:r>
              <a:rPr lang="en-US" altLang="zh-CN" sz="2000" dirty="0"/>
              <a:t>; </a:t>
            </a:r>
            <a:r>
              <a:rPr lang="en-US" altLang="zh-CN" sz="2000" dirty="0" err="1"/>
              <a:t>Oxic</a:t>
            </a:r>
            <a:r>
              <a:rPr lang="en-US" altLang="zh-CN" sz="2000" dirty="0"/>
              <a:t> </a:t>
            </a:r>
          </a:p>
          <a:p>
            <a:r>
              <a:rPr lang="en-US" altLang="zh-CN" sz="2400" dirty="0"/>
              <a:t>SO4init = 500;</a:t>
            </a:r>
          </a:p>
          <a:p>
            <a:pPr lvl="1"/>
            <a:r>
              <a:rPr lang="en-US" altLang="zh-CN" sz="2000" dirty="0" err="1"/>
              <a:t>uM</a:t>
            </a:r>
            <a:r>
              <a:rPr lang="en-US" altLang="zh-CN" sz="2000" dirty="0"/>
              <a:t>; Medium</a:t>
            </a:r>
          </a:p>
          <a:p>
            <a:r>
              <a:rPr lang="en-US" altLang="zh-CN" sz="2400" dirty="0"/>
              <a:t>NPP = 10;</a:t>
            </a:r>
          </a:p>
          <a:p>
            <a:pPr lvl="1"/>
            <a:r>
              <a:rPr lang="en-US" altLang="zh-CN" sz="2000" dirty="0"/>
              <a:t>g/m2/yr; Low OC</a:t>
            </a:r>
          </a:p>
          <a:p>
            <a:r>
              <a:rPr lang="en-US" altLang="zh-CN" sz="2400" dirty="0" err="1"/>
              <a:t>Vbottom</a:t>
            </a:r>
            <a:r>
              <a:rPr lang="en-US" altLang="zh-CN" sz="2400" dirty="0"/>
              <a:t>=100;</a:t>
            </a:r>
          </a:p>
          <a:p>
            <a:pPr lvl="1"/>
            <a:r>
              <a:rPr lang="en-US" altLang="zh-CN" sz="2000" dirty="0"/>
              <a:t>cm/yr; Turbulent</a:t>
            </a:r>
            <a:endParaRPr lang="it-IT" altLang="zh-CN" sz="2000" dirty="0"/>
          </a:p>
          <a:p>
            <a:pPr lvl="1"/>
            <a:endParaRPr lang="it-IT" altLang="zh-CN" dirty="0"/>
          </a:p>
          <a:p>
            <a:endParaRPr lang="zh-CN" altLang="en-US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35BFFD62-C138-43FB-D8EE-66CED9CC0842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002" r="835" b="2586"/>
          <a:stretch>
            <a:fillRect/>
          </a:stretch>
        </p:blipFill>
        <p:spPr>
          <a:xfrm>
            <a:off x="3722338" y="1341380"/>
            <a:ext cx="8499231" cy="5532228"/>
          </a:xfrm>
          <a:prstGeom prst="rect">
            <a:avLst/>
          </a:prstGeom>
        </p:spPr>
      </p:pic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00A12DB4-2798-CE08-915E-BFB895FCA059}"/>
              </a:ext>
            </a:extLst>
          </p:cNvPr>
          <p:cNvSpPr/>
          <p:nvPr/>
        </p:nvSpPr>
        <p:spPr>
          <a:xfrm>
            <a:off x="5258061" y="1405857"/>
            <a:ext cx="6848557" cy="1776046"/>
          </a:xfrm>
          <a:prstGeom prst="roundRect">
            <a:avLst/>
          </a:prstGeom>
          <a:noFill/>
          <a:ln w="28575" cap="flat" cmpd="sng" algn="ctr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21504066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F7501F-1150-1211-D2DE-A9A9887BC4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E6BCF4-6E7C-6327-569F-F826FF4B07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1507" y="156723"/>
            <a:ext cx="9378462" cy="1103508"/>
          </a:xfrm>
        </p:spPr>
        <p:txBody>
          <a:bodyPr>
            <a:normAutofit fontScale="90000"/>
          </a:bodyPr>
          <a:lstStyle/>
          <a:p>
            <a:r>
              <a:rPr lang="en-US" altLang="zh-CN" sz="4000" b="1" dirty="0"/>
              <a:t>Different Scenarios under Coupled Model</a:t>
            </a:r>
            <a:br>
              <a:rPr lang="en-US" altLang="zh-CN" sz="4000" b="1" dirty="0"/>
            </a:br>
            <a:r>
              <a:rPr lang="en-US" altLang="zh-CN" sz="4000" b="1" dirty="0"/>
              <a:t>- </a:t>
            </a:r>
            <a:r>
              <a:rPr lang="en-US" altLang="zh-CN" sz="4000" b="1" dirty="0">
                <a:solidFill>
                  <a:srgbClr val="FF0000"/>
                </a:solidFill>
              </a:rPr>
              <a:t>Carbonate Burial</a:t>
            </a:r>
            <a:endParaRPr lang="zh-CN" altLang="en-US" b="1" dirty="0">
              <a:solidFill>
                <a:srgbClr val="FF0000"/>
              </a:solidFill>
            </a:endParaRP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AFD3D829-5FE2-17E2-7C2D-0E4E62EF338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04446" y="1587084"/>
            <a:ext cx="10515600" cy="4351338"/>
          </a:xfrm>
        </p:spPr>
        <p:txBody>
          <a:bodyPr>
            <a:normAutofit fontScale="92500" lnSpcReduction="20000"/>
          </a:bodyPr>
          <a:lstStyle/>
          <a:p>
            <a:endParaRPr lang="en-US" altLang="zh-CN" sz="2400" dirty="0"/>
          </a:p>
          <a:p>
            <a:r>
              <a:rPr lang="en-US" altLang="zh-CN" sz="2400" dirty="0"/>
              <a:t>O2init=200;</a:t>
            </a:r>
          </a:p>
          <a:p>
            <a:pPr lvl="1"/>
            <a:r>
              <a:rPr lang="en-US" altLang="zh-CN" sz="2000" dirty="0" err="1"/>
              <a:t>uM</a:t>
            </a:r>
            <a:r>
              <a:rPr lang="en-US" altLang="zh-CN" sz="2000" dirty="0"/>
              <a:t>; Normal </a:t>
            </a:r>
          </a:p>
          <a:p>
            <a:r>
              <a:rPr lang="en-US" altLang="zh-CN" sz="2400" dirty="0"/>
              <a:t>SO4init = 3000;</a:t>
            </a:r>
          </a:p>
          <a:p>
            <a:pPr lvl="1"/>
            <a:r>
              <a:rPr lang="en-US" altLang="zh-CN" sz="2000" dirty="0" err="1"/>
              <a:t>uM</a:t>
            </a:r>
            <a:r>
              <a:rPr lang="en-US" altLang="zh-CN" sz="2000" dirty="0"/>
              <a:t>; High</a:t>
            </a:r>
          </a:p>
          <a:p>
            <a:r>
              <a:rPr lang="en-US" altLang="zh-CN" sz="2400" dirty="0" err="1"/>
              <a:t>DICinit</a:t>
            </a:r>
            <a:r>
              <a:rPr lang="en-US" altLang="zh-CN" sz="2400" dirty="0"/>
              <a:t>=3000;</a:t>
            </a:r>
          </a:p>
          <a:p>
            <a:pPr lvl="1"/>
            <a:r>
              <a:rPr lang="en-US" altLang="zh-CN" sz="2000" dirty="0" err="1"/>
              <a:t>uM</a:t>
            </a:r>
            <a:r>
              <a:rPr lang="en-US" altLang="zh-CN" sz="2000" dirty="0"/>
              <a:t>; High IC </a:t>
            </a:r>
          </a:p>
          <a:p>
            <a:r>
              <a:rPr lang="en-US" altLang="zh-CN" sz="2400" dirty="0"/>
              <a:t>HCO3init = 2000;</a:t>
            </a:r>
          </a:p>
          <a:p>
            <a:pPr lvl="1"/>
            <a:r>
              <a:rPr lang="en-US" altLang="zh-CN" sz="2000" dirty="0" err="1"/>
              <a:t>uM</a:t>
            </a:r>
            <a:r>
              <a:rPr lang="en-US" altLang="zh-CN" sz="2000" dirty="0"/>
              <a:t>; High ALK</a:t>
            </a:r>
          </a:p>
          <a:p>
            <a:r>
              <a:rPr lang="en-US" altLang="zh-CN" sz="2400" dirty="0"/>
              <a:t>NPP = 150;</a:t>
            </a:r>
          </a:p>
          <a:p>
            <a:pPr lvl="1"/>
            <a:r>
              <a:rPr lang="en-US" altLang="zh-CN" sz="2000" dirty="0"/>
              <a:t>g/m2/yr; Mid OC</a:t>
            </a:r>
          </a:p>
          <a:p>
            <a:r>
              <a:rPr lang="en-US" altLang="zh-CN" sz="2400" dirty="0" err="1"/>
              <a:t>Vbottom</a:t>
            </a:r>
            <a:r>
              <a:rPr lang="en-US" altLang="zh-CN" sz="2400" dirty="0"/>
              <a:t>=10;</a:t>
            </a:r>
          </a:p>
          <a:p>
            <a:pPr lvl="1"/>
            <a:r>
              <a:rPr lang="en-US" altLang="zh-CN" sz="2000" dirty="0"/>
              <a:t>cm/yr; Medium</a:t>
            </a:r>
            <a:endParaRPr lang="it-IT" altLang="zh-CN" sz="2000" dirty="0"/>
          </a:p>
          <a:p>
            <a:pPr lvl="1"/>
            <a:endParaRPr lang="it-IT" altLang="zh-CN" dirty="0"/>
          </a:p>
          <a:p>
            <a:endParaRPr lang="zh-CN" altLang="en-US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24B3C1CA-019E-723E-DE2C-54740D2BD41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2252"/>
          <a:stretch>
            <a:fillRect/>
          </a:stretch>
        </p:blipFill>
        <p:spPr>
          <a:xfrm>
            <a:off x="3446181" y="1260231"/>
            <a:ext cx="8745819" cy="5662246"/>
          </a:xfrm>
          <a:prstGeom prst="rect">
            <a:avLst/>
          </a:prstGeom>
        </p:spPr>
      </p:pic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1B46AC03-F28D-F37D-1306-19E2F2E728AF}"/>
              </a:ext>
            </a:extLst>
          </p:cNvPr>
          <p:cNvSpPr/>
          <p:nvPr/>
        </p:nvSpPr>
        <p:spPr>
          <a:xfrm>
            <a:off x="7903308" y="5073569"/>
            <a:ext cx="1442720" cy="1729707"/>
          </a:xfrm>
          <a:prstGeom prst="roundRect">
            <a:avLst/>
          </a:prstGeom>
          <a:noFill/>
          <a:ln w="28575" cap="flat" cmpd="sng" algn="ctr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59437310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A5DE2E-67CD-690C-79EA-9A967CB418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EF492E-6792-C0B8-9139-6719992500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22477" y="162585"/>
            <a:ext cx="9378462" cy="1103508"/>
          </a:xfrm>
        </p:spPr>
        <p:txBody>
          <a:bodyPr>
            <a:normAutofit fontScale="90000"/>
          </a:bodyPr>
          <a:lstStyle/>
          <a:p>
            <a:r>
              <a:rPr lang="en-US" altLang="zh-CN" sz="4000" b="1" dirty="0"/>
              <a:t>Next Step</a:t>
            </a:r>
            <a:br>
              <a:rPr lang="en-US" altLang="zh-CN" sz="4000" b="1" dirty="0"/>
            </a:br>
            <a:r>
              <a:rPr lang="en-US" altLang="zh-CN" sz="4000" b="1" dirty="0"/>
              <a:t>-Adding Input for USGS stations</a:t>
            </a:r>
            <a:endParaRPr lang="zh-CN" altLang="en-US" b="1" dirty="0">
              <a:solidFill>
                <a:srgbClr val="FF0000"/>
              </a:solidFill>
            </a:endParaRP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90E5F959-DFE1-9B73-02E9-BC129BD7D76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1677" y="1639838"/>
            <a:ext cx="5884985" cy="4351338"/>
          </a:xfrm>
        </p:spPr>
        <p:txBody>
          <a:bodyPr>
            <a:normAutofit lnSpcReduction="10000"/>
          </a:bodyPr>
          <a:lstStyle/>
          <a:p>
            <a:pPr marL="0" indent="0" algn="ctr">
              <a:buNone/>
            </a:pPr>
            <a:r>
              <a:rPr lang="en-US" altLang="zh-CN" sz="3200" b="1" dirty="0"/>
              <a:t>Expecting Input</a:t>
            </a:r>
          </a:p>
          <a:p>
            <a:r>
              <a:rPr lang="en-US" altLang="zh-CN" sz="2400" b="1" dirty="0"/>
              <a:t>T</a:t>
            </a:r>
          </a:p>
          <a:p>
            <a:r>
              <a:rPr lang="en-US" altLang="zh-CN" sz="2400" b="1" dirty="0"/>
              <a:t>O2</a:t>
            </a:r>
          </a:p>
          <a:p>
            <a:r>
              <a:rPr lang="en-US" altLang="zh-CN" sz="2400" b="1" dirty="0"/>
              <a:t>ALK/DIC</a:t>
            </a:r>
          </a:p>
          <a:p>
            <a:r>
              <a:rPr lang="en-US" altLang="zh-CN" sz="2400" b="1" dirty="0"/>
              <a:t>POC conc</a:t>
            </a:r>
          </a:p>
          <a:p>
            <a:r>
              <a:rPr lang="en-US" altLang="zh-CN" sz="2400" dirty="0"/>
              <a:t>Grain Distribution </a:t>
            </a:r>
          </a:p>
          <a:p>
            <a:pPr lvl="1"/>
            <a:r>
              <a:rPr lang="en-US" altLang="zh-CN" sz="2000" dirty="0"/>
              <a:t>for Porosity</a:t>
            </a:r>
          </a:p>
          <a:p>
            <a:r>
              <a:rPr lang="en-US" altLang="zh-CN" sz="2400" dirty="0"/>
              <a:t>Sheer V=gHS</a:t>
            </a:r>
            <a:r>
              <a:rPr lang="en-US" altLang="zh-CN" sz="2400" baseline="30000" dirty="0"/>
              <a:t>-2</a:t>
            </a:r>
            <a:r>
              <a:rPr lang="en-US" altLang="zh-CN" sz="2400" dirty="0"/>
              <a:t>  </a:t>
            </a:r>
          </a:p>
          <a:p>
            <a:pPr lvl="1"/>
            <a:r>
              <a:rPr lang="en-US" altLang="zh-CN" sz="2000" dirty="0"/>
              <a:t>for POM setting rate and Hyporheic diffusion</a:t>
            </a:r>
          </a:p>
          <a:p>
            <a:r>
              <a:rPr lang="en-US" altLang="zh-CN" sz="2400" dirty="0"/>
              <a:t>SO4?;  for CH4 proxy</a:t>
            </a:r>
          </a:p>
          <a:p>
            <a:endParaRPr lang="en-US" altLang="zh-CN" sz="2400" dirty="0"/>
          </a:p>
          <a:p>
            <a:pPr lvl="1"/>
            <a:endParaRPr lang="it-IT" altLang="zh-CN" dirty="0"/>
          </a:p>
          <a:p>
            <a:endParaRPr lang="zh-CN" altLang="en-US" dirty="0"/>
          </a:p>
        </p:txBody>
      </p:sp>
      <p:sp>
        <p:nvSpPr>
          <p:cNvPr id="3" name="Content Placeholder 4">
            <a:extLst>
              <a:ext uri="{FF2B5EF4-FFF2-40B4-BE49-F238E27FC236}">
                <a16:creationId xmlns:a16="http://schemas.microsoft.com/office/drawing/2014/main" id="{9FD1CE0B-6058-01A0-BA93-17FE31D055CB}"/>
              </a:ext>
            </a:extLst>
          </p:cNvPr>
          <p:cNvSpPr txBox="1">
            <a:spLocks/>
          </p:cNvSpPr>
          <p:nvPr/>
        </p:nvSpPr>
        <p:spPr>
          <a:xfrm>
            <a:off x="6406662" y="1704316"/>
            <a:ext cx="5884985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altLang="zh-CN" sz="3200" b="1" dirty="0"/>
              <a:t>Expecting Output</a:t>
            </a:r>
          </a:p>
          <a:p>
            <a:r>
              <a:rPr lang="en-US" altLang="zh-CN" sz="2400" dirty="0"/>
              <a:t>CH4 proxy </a:t>
            </a:r>
          </a:p>
          <a:p>
            <a:pPr lvl="1"/>
            <a:r>
              <a:rPr lang="en-US" altLang="zh-CN" sz="2000" dirty="0"/>
              <a:t>Anoxic Depth/</a:t>
            </a:r>
            <a:r>
              <a:rPr lang="en-US" altLang="zh-CN" sz="2000" dirty="0" err="1"/>
              <a:t>Rate_Meth</a:t>
            </a:r>
            <a:endParaRPr lang="en-US" altLang="zh-CN" dirty="0"/>
          </a:p>
          <a:p>
            <a:r>
              <a:rPr lang="en-US" altLang="zh-CN" sz="2400" dirty="0"/>
              <a:t>Carbonate Burial</a:t>
            </a:r>
          </a:p>
          <a:p>
            <a:pPr lvl="1"/>
            <a:r>
              <a:rPr lang="en-US" altLang="zh-CN" sz="2000" dirty="0" err="1"/>
              <a:t>sigma_carb</a:t>
            </a:r>
            <a:endParaRPr lang="en-US" altLang="zh-CN" sz="2000" dirty="0"/>
          </a:p>
          <a:p>
            <a:pPr lvl="1"/>
            <a:endParaRPr lang="it-IT" altLang="zh-CN" dirty="0"/>
          </a:p>
          <a:p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46293447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70ECC6-9F74-F0AB-3076-5EFCB8FF73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A79342-F993-3407-EC71-2A553F0F63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22477" y="162585"/>
            <a:ext cx="9378462" cy="1103508"/>
          </a:xfrm>
        </p:spPr>
        <p:txBody>
          <a:bodyPr>
            <a:normAutofit fontScale="90000"/>
          </a:bodyPr>
          <a:lstStyle/>
          <a:p>
            <a:r>
              <a:rPr lang="en-US" altLang="zh-CN" sz="4000" b="1" dirty="0"/>
              <a:t>Sensitivity</a:t>
            </a:r>
            <a:br>
              <a:rPr lang="en-US" altLang="zh-CN" sz="4000" b="1" dirty="0"/>
            </a:br>
            <a:r>
              <a:rPr lang="en-US" altLang="zh-CN" sz="4000" b="1" dirty="0"/>
              <a:t>-Baseline and Params Range</a:t>
            </a:r>
            <a:endParaRPr lang="zh-CN" altLang="en-US" b="1" dirty="0">
              <a:solidFill>
                <a:srgbClr val="FF0000"/>
              </a:solidFill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1332DE1-AAC5-E3E1-2B02-E6E142BB7FC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5913" y="1211553"/>
            <a:ext cx="6655753" cy="55753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2469108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E670AA-180D-89FD-9DF5-4BA5DFFFF1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59BF36-54D6-BAC4-5788-EB5D7FC1BE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22477" y="162585"/>
            <a:ext cx="9378462" cy="1103508"/>
          </a:xfrm>
        </p:spPr>
        <p:txBody>
          <a:bodyPr>
            <a:normAutofit fontScale="90000"/>
          </a:bodyPr>
          <a:lstStyle/>
          <a:p>
            <a:r>
              <a:rPr lang="en-US" altLang="zh-CN" sz="4000" b="1" dirty="0"/>
              <a:t>Sensitivity</a:t>
            </a:r>
            <a:br>
              <a:rPr lang="en-US" altLang="zh-CN" sz="4000" b="1" dirty="0"/>
            </a:br>
            <a:r>
              <a:rPr lang="en-US" altLang="zh-CN" sz="4000" b="1" dirty="0"/>
              <a:t>-Baseline and Prams Range</a:t>
            </a:r>
            <a:endParaRPr lang="zh-CN" altLang="en-US" b="1" dirty="0">
              <a:solidFill>
                <a:srgbClr val="FF0000"/>
              </a:solidFill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76461D51-F98C-58BA-4FDB-C6DB99883FC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2477" y="1333649"/>
            <a:ext cx="9570206" cy="51822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7184889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D8184F-E3A1-0CE4-0BDE-3340D02040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22E3DA-4961-9566-0BC0-EE6AF66631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22477" y="162585"/>
            <a:ext cx="9378462" cy="1103508"/>
          </a:xfrm>
        </p:spPr>
        <p:txBody>
          <a:bodyPr>
            <a:normAutofit fontScale="90000"/>
          </a:bodyPr>
          <a:lstStyle/>
          <a:p>
            <a:r>
              <a:rPr lang="en-US" altLang="zh-CN" sz="4000" b="1" dirty="0"/>
              <a:t>Sensitivity</a:t>
            </a:r>
            <a:br>
              <a:rPr lang="en-US" altLang="zh-CN" sz="4000" b="1" dirty="0"/>
            </a:br>
            <a:r>
              <a:rPr lang="en-US" altLang="zh-CN" sz="4000" b="1" dirty="0"/>
              <a:t>-Result without HCO3init</a:t>
            </a:r>
            <a:endParaRPr lang="zh-CN" altLang="en-US" b="1" dirty="0">
              <a:solidFill>
                <a:srgbClr val="FF0000"/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E54F9CF-F46C-88EA-0912-4F6F2F7920A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844" y="457894"/>
            <a:ext cx="12192000" cy="62950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9437974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66B343-FFA2-7591-91B1-CC8B2D325A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A55471-9BE6-942A-8A32-CF6E913FBD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22477" y="162585"/>
            <a:ext cx="9378462" cy="1103508"/>
          </a:xfrm>
        </p:spPr>
        <p:txBody>
          <a:bodyPr>
            <a:normAutofit fontScale="90000"/>
          </a:bodyPr>
          <a:lstStyle/>
          <a:p>
            <a:r>
              <a:rPr lang="en-US" altLang="zh-CN" sz="4000" b="1" dirty="0"/>
              <a:t>Sensitivity</a:t>
            </a:r>
            <a:br>
              <a:rPr lang="en-US" altLang="zh-CN" sz="4000" b="1" dirty="0"/>
            </a:br>
            <a:r>
              <a:rPr lang="en-US" altLang="zh-CN" sz="4000" b="1" dirty="0"/>
              <a:t>-Result with HCO3init</a:t>
            </a:r>
            <a:endParaRPr lang="zh-CN" altLang="en-US" b="1" dirty="0">
              <a:solidFill>
                <a:srgbClr val="FF0000"/>
              </a:solidFill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C5F728C-6FAE-91E9-149D-BFE262B978A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6695" y="546058"/>
            <a:ext cx="12192000" cy="66302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1919424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3308B2-F3E4-39A7-65E4-3592F99E81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3BB371D-4135-4A64-27B2-E1FD4FCF4F5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67033023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671</TotalTime>
  <Words>1956</Words>
  <Application>Microsoft Office PowerPoint</Application>
  <PresentationFormat>Widescreen</PresentationFormat>
  <Paragraphs>139</Paragraphs>
  <Slides>18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4" baseType="lpstr">
      <vt:lpstr>等线</vt:lpstr>
      <vt:lpstr>等线 Light</vt:lpstr>
      <vt:lpstr>Arial</vt:lpstr>
      <vt:lpstr>Cambria Math</vt:lpstr>
      <vt:lpstr>Times New Roman</vt:lpstr>
      <vt:lpstr>Office Theme</vt:lpstr>
      <vt:lpstr>River Sediment Parameterization (Literature Review)</vt:lpstr>
      <vt:lpstr>Grain Size (d50) as the Master Variable</vt:lpstr>
      <vt:lpstr>Hyporheic Zone Diffusion &amp; Residence Time</vt:lpstr>
      <vt:lpstr>River POM Settling &amp; Flocculation</vt:lpstr>
      <vt:lpstr>Reference</vt:lpstr>
      <vt:lpstr>Multiple Grain Size and Porosity Modeling</vt:lpstr>
      <vt:lpstr>Reference</vt:lpstr>
      <vt:lpstr>Parameter change for river env</vt:lpstr>
      <vt:lpstr>Bug and debug </vt:lpstr>
      <vt:lpstr>Different Scenarios under Coupled Model - Methane Hotspot</vt:lpstr>
      <vt:lpstr>Different Scenarios under Coupled Model - Spring Mountainous</vt:lpstr>
      <vt:lpstr>Different Scenarios under Coupled Model - Carbonate Burial</vt:lpstr>
      <vt:lpstr>Next Step -Adding Input for USGS stations</vt:lpstr>
      <vt:lpstr>Sensitivity -Baseline and Params Range</vt:lpstr>
      <vt:lpstr>Sensitivity -Baseline and Prams Range</vt:lpstr>
      <vt:lpstr>Sensitivity -Result without HCO3init</vt:lpstr>
      <vt:lpstr>Sensitivity -Result with HCO3init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Author</dc:creator>
  <cp:lastModifiedBy>Alex Liu</cp:lastModifiedBy>
  <cp:revision>23</cp:revision>
  <dcterms:created xsi:type="dcterms:W3CDTF">2026-02-09T02:36:33Z</dcterms:created>
  <dcterms:modified xsi:type="dcterms:W3CDTF">2026-04-06T16:25:47Z</dcterms:modified>
</cp:coreProperties>
</file>