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2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8E0B5-9F8A-4D58-BE6F-8A643D5E80A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FD9E6-C079-4E9B-99D0-1F904BCAE1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021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FD9E6-C079-4E9B-99D0-1F904BCAE1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028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F2D6-0AB9-9B9C-702F-D8A252172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A34DA-CFFD-A9A3-23C7-FCC81D3F7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956AE-7ED1-2132-D180-A6FAB2B88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CCEDA-3BC6-8F15-02E1-6DB06CF59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3F304-E4F7-FFF8-94F1-C453FBA3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4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797F-23C9-4634-EB21-275D2D96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532A2-F763-F011-E915-482591436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938F4-4961-24DC-0B89-62958066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F08B8-F9C2-C3E5-D217-D63E60D4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F95A7-C0E6-5856-D0A4-A1B6C231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84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03E4-E019-7934-2DEF-74FBE987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893A4-98B7-28D3-6DE4-130D9CFA7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5898-1937-2F0F-8BCE-0D7D34D9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5795C-0D32-0AE7-87B0-016CCFA2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5BF44-3874-1E4D-A42C-796BD9E2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79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D3F2D-4674-DF82-6713-6980C3BDB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46E66-4F84-F00E-2705-56AB7AE9A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262DD-A8F4-9075-24F0-1533A6E01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80EE-847B-3027-664C-4909EAC4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3BD6D-7315-364E-5355-7E68A177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C08D6-5D0E-6E8A-8663-2AD801E8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06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21733-5A08-DEA1-C077-123044B3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2D51F-D2C1-F812-7DF6-F47C64179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36C28-2E70-8464-098F-3685D3AD3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71B04-813E-7201-C56A-B8B0FD922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69852-F596-A2D9-6F4A-8364451DF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118744-CA64-343A-E736-24A6E0DE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5E928B-29AA-AC33-6900-9D7884A2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5F907-D374-EACB-52D5-ECE933A3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036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BD54-DBEF-493F-BBE7-1A3AB06E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D5A25-83C5-FA47-9E32-FFC600A6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CD373-4E61-AE9E-B64F-B4B355BC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1B7F5-5A80-6FCE-ACDF-F7FC93A1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17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A76FB0-6C85-6831-2AA1-74AE2721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9B7B9-9A91-6E49-8579-46C580BE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A4CD4-6B26-3F2C-45C5-2572773F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68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B27B-F3CC-794B-EBAC-C5556EF9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C3AB7-593D-BFF0-8BDC-80BA16E55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21E6B-307D-596C-E01B-5C773E4E9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C993C-FE09-0F2B-0A76-180EF03EF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7FEE3-3749-2869-5ECB-AE784642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DB44F-D7E7-8D76-4EF8-B3C16C25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64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91C6-25F6-FBA4-40C8-76608FA5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45EEA-28BF-5DB2-A42B-B48171D82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CFBD7-4BDA-180C-086C-0795C06E5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456D1-7C97-2550-DF02-B1F3359F3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02095-F5B6-6A4A-F657-92F04799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6CCB8-5D12-DB02-BDE9-D32E1F7E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2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F6F8-22F7-1CDE-3FB2-E51CD883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FDFD5-ECCF-0DD8-D6E2-C778190BA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DAF10-7AF8-4FF5-DC8C-C80919F3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8312E-6776-189D-A062-F42B0836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11349-BDD9-5805-C11C-E9074271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08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D2E42-B13A-D105-5704-7C54F8535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4C47C-5D2A-67D0-836E-70C71F9E8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DE491-AD8C-BE6D-24C4-066D6948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767C2-5C92-8AB7-C116-3F9534C3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F7931-C902-A438-B76F-35BA5E29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38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76E23B-061F-CF1D-D708-FF65E5EF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6CA6B-B722-AB2E-C318-C8DB8E0DC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3B334-5C95-7B05-29E5-1F99F5ECD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A4B27-A32D-434B-B983-E08B7F97CD8F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479B8-BC51-1C6D-FCDD-3620AB5F7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279F3-F8DE-91E5-E9CF-9FE32CCA7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D484E-C995-40A5-9ADC-A6BF973F1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09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73B7-42DB-B887-C57A-B4BF240AD7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CCFB4-DB4D-64BC-A6F1-A06DCA3F88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05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9CD7-B30C-9EBD-503B-0E24D0A0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Run_RTM_1D_PDE.m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3166B-72E2-B8A9-7E33-A8D033FB8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CN" dirty="0"/>
              <a:t>Config / Params</a:t>
            </a:r>
          </a:p>
          <a:p>
            <a:r>
              <a:rPr lang="en-US" altLang="zh-CN" dirty="0"/>
              <a:t>   ↓</a:t>
            </a:r>
          </a:p>
          <a:p>
            <a:r>
              <a:rPr lang="en-US" altLang="zh-CN" dirty="0"/>
              <a:t>Grid</a:t>
            </a:r>
          </a:p>
          <a:p>
            <a:r>
              <a:rPr lang="en-US" altLang="zh-CN" dirty="0"/>
              <a:t>   ↓</a:t>
            </a:r>
          </a:p>
          <a:p>
            <a:r>
              <a:rPr lang="en-US" altLang="zh-CN" dirty="0"/>
              <a:t>Forcing</a:t>
            </a:r>
          </a:p>
          <a:p>
            <a:r>
              <a:rPr lang="en-US" altLang="zh-CN" dirty="0"/>
              <a:t>   ↓</a:t>
            </a:r>
          </a:p>
          <a:p>
            <a:r>
              <a:rPr lang="en-US" altLang="zh-CN" dirty="0"/>
              <a:t>Initial State</a:t>
            </a:r>
          </a:p>
          <a:p>
            <a:r>
              <a:rPr lang="en-US" altLang="zh-CN" dirty="0"/>
              <a:t>   ↓</a:t>
            </a:r>
          </a:p>
          <a:p>
            <a:r>
              <a:rPr lang="en-US" altLang="zh-CN" dirty="0"/>
              <a:t>Pack into Y0</a:t>
            </a:r>
          </a:p>
          <a:p>
            <a:r>
              <a:rPr lang="en-US" altLang="zh-CN" dirty="0"/>
              <a:t>   ↓</a:t>
            </a:r>
          </a:p>
          <a:p>
            <a:r>
              <a:rPr lang="en-US" altLang="zh-CN" dirty="0"/>
              <a:t>ode15s solves </a:t>
            </a:r>
            <a:r>
              <a:rPr lang="en-US" altLang="zh-CN" dirty="0" err="1"/>
              <a:t>dY</a:t>
            </a:r>
            <a:r>
              <a:rPr lang="en-US" altLang="zh-CN" dirty="0"/>
              <a:t>/dt = RTM_PDE_RHS</a:t>
            </a:r>
          </a:p>
          <a:p>
            <a:r>
              <a:rPr lang="en-US" altLang="zh-CN" dirty="0"/>
              <a:t>   ↓</a:t>
            </a:r>
          </a:p>
          <a:p>
            <a:r>
              <a:rPr lang="en-US" altLang="zh-CN" dirty="0"/>
              <a:t>Unpack final state</a:t>
            </a:r>
          </a:p>
          <a:p>
            <a:r>
              <a:rPr lang="en-US" altLang="zh-CN" dirty="0"/>
              <a:t>   ↓</a:t>
            </a:r>
          </a:p>
          <a:p>
            <a:r>
              <a:rPr lang="en-US" altLang="zh-CN" dirty="0"/>
              <a:t>Reaction diagnostics / summary / plot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337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EAA0-5AED-128B-E1D2-5A8A3CA3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Config_Baseline.m</a:t>
            </a:r>
            <a:r>
              <a:rPr lang="en-US" altLang="zh-CN" dirty="0"/>
              <a:t> and </a:t>
            </a:r>
            <a:r>
              <a:rPr lang="en-US" altLang="zh-CN" dirty="0" err="1"/>
              <a:t>Params_Static.m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55817-7666-97AE-9A2C-72364A951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baseline simulation setup</a:t>
            </a:r>
          </a:p>
          <a:p>
            <a:r>
              <a:rPr lang="en-US" altLang="zh-CN" dirty="0"/>
              <a:t>site setup and forcing</a:t>
            </a:r>
          </a:p>
          <a:p>
            <a:r>
              <a:rPr lang="en-US" altLang="zh-CN" dirty="0"/>
              <a:t>audited kinetic and stoichiometric parameters.</a:t>
            </a:r>
          </a:p>
          <a:p>
            <a:r>
              <a:rPr lang="en-US" altLang="zh-CN" dirty="0"/>
              <a:t>Some parameters are currently treated as static, but for validation and uncertainty analysis they may later become calibrated or sampled parameters.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298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BC4C-99DF-D460-DC41-031D94CA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RTM_PDE_RHS.m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6EDC5-CD7B-FBEF-1D17-25BBDB012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Y</a:t>
            </a:r>
          </a:p>
          <a:p>
            <a:r>
              <a:rPr lang="en-US" altLang="zh-CN" dirty="0"/>
              <a:t> ↓</a:t>
            </a:r>
          </a:p>
          <a:p>
            <a:r>
              <a:rPr lang="en-US" altLang="zh-CN" dirty="0" err="1"/>
              <a:t>Unpack_State</a:t>
            </a:r>
            <a:endParaRPr lang="en-US" altLang="zh-CN" dirty="0"/>
          </a:p>
          <a:p>
            <a:r>
              <a:rPr lang="en-US" altLang="zh-CN" dirty="0"/>
              <a:t> ↓</a:t>
            </a:r>
          </a:p>
          <a:p>
            <a:r>
              <a:rPr lang="en-US" altLang="zh-CN" dirty="0"/>
              <a:t>floor negative values for reaction calculation</a:t>
            </a:r>
          </a:p>
          <a:p>
            <a:r>
              <a:rPr lang="en-US" altLang="zh-CN" dirty="0"/>
              <a:t> ↓</a:t>
            </a:r>
          </a:p>
          <a:p>
            <a:r>
              <a:rPr lang="en-US" altLang="zh-CN" dirty="0" err="1"/>
              <a:t>RTM_Reaction_Rates</a:t>
            </a:r>
            <a:endParaRPr lang="en-US" altLang="zh-CN" dirty="0"/>
          </a:p>
          <a:p>
            <a:r>
              <a:rPr lang="en-US" altLang="zh-CN" dirty="0"/>
              <a:t> ↓</a:t>
            </a:r>
          </a:p>
          <a:p>
            <a:r>
              <a:rPr lang="en-US" altLang="zh-CN" dirty="0" err="1"/>
              <a:t>solid_rhs</a:t>
            </a:r>
            <a:r>
              <a:rPr lang="en-US" altLang="zh-CN" dirty="0"/>
              <a:t> for solid species</a:t>
            </a:r>
          </a:p>
          <a:p>
            <a:r>
              <a:rPr lang="en-US" altLang="zh-CN" dirty="0" err="1"/>
              <a:t>solute_rhs</a:t>
            </a:r>
            <a:r>
              <a:rPr lang="en-US" altLang="zh-CN" dirty="0"/>
              <a:t> for solute species</a:t>
            </a:r>
          </a:p>
          <a:p>
            <a:r>
              <a:rPr lang="en-US" altLang="zh-CN" dirty="0"/>
              <a:t> ↓</a:t>
            </a:r>
          </a:p>
          <a:p>
            <a:r>
              <a:rPr lang="en-US" altLang="zh-CN" dirty="0" err="1"/>
              <a:t>Pack_State</a:t>
            </a:r>
            <a:r>
              <a:rPr lang="en-US" altLang="zh-CN" dirty="0"/>
              <a:t>(</a:t>
            </a:r>
            <a:r>
              <a:rPr lang="en-US" altLang="zh-CN" dirty="0" err="1"/>
              <a:t>dState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494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50B6-7ABE-3061-EFB6-18418BF3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RTM_Reaction_Rates.m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443BC-8AEE-447A-0B8D-312F63EFC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 dirty="0" err="1"/>
              <a:t>RTM_Reaction_Rates</a:t>
            </a:r>
            <a:r>
              <a:rPr lang="en-US" altLang="zh-CN" dirty="0"/>
              <a:t> only computes local reaction source and sink terms.</a:t>
            </a:r>
          </a:p>
          <a:p>
            <a:r>
              <a:rPr lang="en-US" altLang="zh-CN" dirty="0"/>
              <a:t>Carbonate speciation first</a:t>
            </a:r>
          </a:p>
          <a:p>
            <a:r>
              <a:rPr lang="en-US" altLang="zh-CN" dirty="0"/>
              <a:t>OM degradation</a:t>
            </a:r>
          </a:p>
          <a:p>
            <a:pPr lvl="1"/>
            <a:r>
              <a:rPr lang="en-US" altLang="zh-CN" dirty="0"/>
              <a:t>labile OM pool drives most redox reactions.</a:t>
            </a:r>
          </a:p>
          <a:p>
            <a:pPr lvl="1"/>
            <a:r>
              <a:rPr lang="en-US" altLang="zh-CN" dirty="0"/>
              <a:t>refractory pool mainly used to represent preserved OM inventory, unless turn on a small refractory degradation rate</a:t>
            </a:r>
          </a:p>
          <a:p>
            <a:r>
              <a:rPr lang="en-US" altLang="zh-CN" dirty="0"/>
              <a:t>Redox cascade</a:t>
            </a:r>
            <a:r>
              <a:rPr lang="zh-CN" altLang="en-US" dirty="0"/>
              <a:t>：</a:t>
            </a:r>
            <a:r>
              <a:rPr lang="en-US" altLang="zh-CN" dirty="0"/>
              <a:t>O2 → Fe → SO4 → CH4</a:t>
            </a:r>
          </a:p>
          <a:p>
            <a:pPr lvl="1"/>
            <a:r>
              <a:rPr lang="en-US" altLang="zh-CN" dirty="0"/>
              <a:t>Sulfate reduction and</a:t>
            </a:r>
            <a:r>
              <a:rPr lang="zh-CN" altLang="en-US" dirty="0"/>
              <a:t> </a:t>
            </a:r>
            <a:r>
              <a:rPr lang="en-US" altLang="zh-CN" dirty="0"/>
              <a:t>AOM are restricted by SO4</a:t>
            </a:r>
          </a:p>
          <a:p>
            <a:pPr lvl="1"/>
            <a:r>
              <a:rPr lang="en-US" altLang="zh-CN" dirty="0"/>
              <a:t>CH4</a:t>
            </a:r>
            <a:r>
              <a:rPr lang="zh-CN" altLang="en-US" dirty="0"/>
              <a:t>：</a:t>
            </a:r>
            <a:r>
              <a:rPr lang="en-US" altLang="zh-CN" dirty="0"/>
              <a:t>methanogenesis + AOM + aerobic oxidation + bubbling</a:t>
            </a:r>
          </a:p>
          <a:p>
            <a:r>
              <a:rPr lang="en-US" altLang="zh-CN" dirty="0"/>
              <a:t>Fe/S secondary reactions : </a:t>
            </a:r>
          </a:p>
          <a:p>
            <a:pPr lvl="1"/>
            <a:r>
              <a:rPr lang="en-US" altLang="zh-CN" dirty="0"/>
              <a:t>Fe2+ oxidation</a:t>
            </a:r>
            <a:r>
              <a:rPr lang="zh-CN" altLang="en-US" dirty="0"/>
              <a:t>； </a:t>
            </a:r>
          </a:p>
          <a:p>
            <a:pPr lvl="1"/>
            <a:r>
              <a:rPr lang="en-US" altLang="zh-CN" dirty="0" err="1"/>
              <a:t>FeS</a:t>
            </a:r>
            <a:r>
              <a:rPr lang="en-US" altLang="zh-CN" dirty="0"/>
              <a:t> formation</a:t>
            </a:r>
            <a:r>
              <a:rPr lang="zh-CN" altLang="en-US" dirty="0"/>
              <a:t>； </a:t>
            </a:r>
          </a:p>
          <a:p>
            <a:pPr lvl="1"/>
            <a:r>
              <a:rPr lang="en-US" altLang="zh-CN" dirty="0"/>
              <a:t>H2S oxidation</a:t>
            </a:r>
            <a:r>
              <a:rPr lang="zh-CN" altLang="en-US" dirty="0"/>
              <a:t>； </a:t>
            </a:r>
          </a:p>
          <a:p>
            <a:pPr lvl="1"/>
            <a:r>
              <a:rPr lang="en-US" altLang="zh-CN" dirty="0"/>
              <a:t>HS free fraction controlled by pH</a:t>
            </a:r>
            <a:r>
              <a:rPr lang="zh-CN" altLang="en-US" dirty="0"/>
              <a:t>； </a:t>
            </a:r>
          </a:p>
          <a:p>
            <a:pPr lvl="1"/>
            <a:r>
              <a:rPr lang="en-US" altLang="zh-CN" dirty="0"/>
              <a:t>O2 secondary sink</a:t>
            </a:r>
          </a:p>
          <a:p>
            <a:r>
              <a:rPr lang="en-US" altLang="zh-CN" dirty="0"/>
              <a:t>Carbonate precipitation/dissolution (Dissolved Ca2+).</a:t>
            </a:r>
          </a:p>
          <a:p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48746BB-4AE5-77A9-CA6C-9EC48128F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4479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3000-5087-A11A-A46A-EC4623E3E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Georgia estuary</a:t>
            </a:r>
            <a:br>
              <a:rPr lang="en-US" altLang="zh-CN" dirty="0"/>
            </a:br>
            <a:r>
              <a:rPr lang="en-US" altLang="zh-CN" dirty="0"/>
              <a:t>SAP1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A64F8-225D-8405-703F-63FD71B45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8E05C-A239-6A46-F6DB-7CBC14FA2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0" y="1600871"/>
            <a:ext cx="11430587" cy="48008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9E0DB0-23F7-7F52-20EB-B731D3E18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206" y="-675131"/>
            <a:ext cx="6591639" cy="2444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B37010-6835-04FF-530D-A30B5B993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92" y="4151768"/>
            <a:ext cx="6331275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6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010B1-5248-5593-60AB-280E946B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2972-449C-5F4A-A477-58108EC7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15" y="18255"/>
            <a:ext cx="10515600" cy="1325563"/>
          </a:xfrm>
        </p:spPr>
        <p:txBody>
          <a:bodyPr/>
          <a:lstStyle/>
          <a:p>
            <a:r>
              <a:rPr lang="en-US" altLang="zh-CN" dirty="0"/>
              <a:t>Lake Michigan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1910-6EF0-767E-D276-9E9301C01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18F2DF-58D5-7356-7E15-D1521B247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5" y="870596"/>
            <a:ext cx="1074032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695AD-AA34-0B65-8053-836DA9CE71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21"/>
          <a:stretch>
            <a:fillRect/>
          </a:stretch>
        </p:blipFill>
        <p:spPr>
          <a:xfrm>
            <a:off x="8742993" y="4190276"/>
            <a:ext cx="1871622" cy="4118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6FA4DE-5310-0A27-1D8A-8917DBC3E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465" y="-486390"/>
            <a:ext cx="1739989" cy="35434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4689AC-0106-6AD4-2509-11355E2C3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868" y="3459756"/>
            <a:ext cx="1778091" cy="46293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F7DDA7-3C20-4E6F-50D6-6659A6CFCA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144" y="2167465"/>
            <a:ext cx="2006703" cy="36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11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93DC-C6A9-E1C9-319C-847EC642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Geneva 1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9E384-6824-1ECD-0EBC-D33D3BDC8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F6E41-94B2-CB3A-3F8F-C5B6B07C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6750"/>
            <a:ext cx="11608397" cy="4826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6CB3C4-6C42-19C9-3978-84A7668A7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929" y="-878155"/>
            <a:ext cx="8160169" cy="2806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ED26D-906C-2AB8-502F-9FA648A3C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314" y="4316016"/>
            <a:ext cx="8198271" cy="2883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9D340B-AF36-F0D4-BD65-9532E96B5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206" y="1657552"/>
            <a:ext cx="1949550" cy="255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38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2D6-CDBD-29F0-7419-3037FD48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Geneva 4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99F5C-8D3A-CD17-31FA-DA1BEAFB0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0D8BC-06AB-C8A7-17D3-96D773CB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52" y="1578644"/>
            <a:ext cx="11570295" cy="4845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091CC3-DAE3-4B86-6A6B-65B2FA097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249" y="3917332"/>
            <a:ext cx="8020462" cy="3073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D6A23-7481-0AD4-5AC2-FADD30B42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419" y="-1020036"/>
            <a:ext cx="7417181" cy="26353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CC2E44-05AA-166B-1520-F8E4E7724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107" y="4928802"/>
            <a:ext cx="1847945" cy="262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63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276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Theme</vt:lpstr>
      <vt:lpstr>PowerPoint Presentation</vt:lpstr>
      <vt:lpstr>Run_RTM_1D_PDE.m</vt:lpstr>
      <vt:lpstr>Config_Baseline.m and Params_Static.m</vt:lpstr>
      <vt:lpstr>RTM_PDE_RHS.m</vt:lpstr>
      <vt:lpstr>RTM_Reaction_Rates.m</vt:lpstr>
      <vt:lpstr>Georgia estuary SAP1</vt:lpstr>
      <vt:lpstr>Lake Michigan</vt:lpstr>
      <vt:lpstr>Geneva 1</vt:lpstr>
      <vt:lpstr>Geneva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Liu</dc:creator>
  <cp:lastModifiedBy>Alex Liu</cp:lastModifiedBy>
  <cp:revision>5</cp:revision>
  <dcterms:created xsi:type="dcterms:W3CDTF">2026-06-11T01:03:06Z</dcterms:created>
  <dcterms:modified xsi:type="dcterms:W3CDTF">2026-06-11T15:38:07Z</dcterms:modified>
</cp:coreProperties>
</file>